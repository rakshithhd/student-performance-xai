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alibri (MS) Bold" charset="1" panose="020F0702030404030204"/>
      <p:regular r:id="rId38"/>
    </p:embeddedFont>
    <p:embeddedFont>
      <p:font typeface="Times New Roman Bold" charset="1" panose="02020803070505020304"/>
      <p:regular r:id="rId39"/>
    </p:embeddedFont>
    <p:embeddedFont>
      <p:font typeface="Times New Roman" charset="1" panose="02020603050405020304"/>
      <p:regular r:id="rId40"/>
    </p:embeddedFont>
    <p:embeddedFont>
      <p:font typeface="Calibri (MS)" charset="1" panose="020F0502020204030204"/>
      <p:regular r:id="rId41"/>
    </p:embeddedFont>
    <p:embeddedFont>
      <p:font typeface="Canva Sans" charset="1" panose="020B0503030501040103"/>
      <p:regular r:id="rId42"/>
    </p:embeddedFont>
    <p:embeddedFont>
      <p:font typeface="Canva Sans Bold" charset="1" panose="020B0803030501040103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rchive.ics.uci.edu/ml/datasets/Student+Performance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36515" y="-19050"/>
            <a:ext cx="6570535" cy="828263"/>
            <a:chOff x="0" y="0"/>
            <a:chExt cx="8760713" cy="1104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154" y="19721"/>
              <a:ext cx="8734404" cy="1064910"/>
            </a:xfrm>
            <a:custGeom>
              <a:avLst/>
              <a:gdLst/>
              <a:ahLst/>
              <a:cxnLst/>
              <a:rect r="r" b="b" t="t" l="l"/>
              <a:pathLst>
                <a:path h="1064910" w="8734404">
                  <a:moveTo>
                    <a:pt x="0" y="0"/>
                  </a:moveTo>
                  <a:lnTo>
                    <a:pt x="8734404" y="0"/>
                  </a:lnTo>
                  <a:lnTo>
                    <a:pt x="8734404" y="1064909"/>
                  </a:lnTo>
                  <a:lnTo>
                    <a:pt x="0" y="1064909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60713" cy="1104351"/>
            </a:xfrm>
            <a:custGeom>
              <a:avLst/>
              <a:gdLst/>
              <a:ahLst/>
              <a:cxnLst/>
              <a:rect r="r" b="b" t="t" l="l"/>
              <a:pathLst>
                <a:path h="1104351" w="8760713">
                  <a:moveTo>
                    <a:pt x="13154" y="0"/>
                  </a:moveTo>
                  <a:lnTo>
                    <a:pt x="8747558" y="0"/>
                  </a:lnTo>
                  <a:cubicBezTo>
                    <a:pt x="8754793" y="0"/>
                    <a:pt x="8760713" y="8874"/>
                    <a:pt x="8760713" y="19721"/>
                  </a:cubicBezTo>
                  <a:lnTo>
                    <a:pt x="8760713" y="1084630"/>
                  </a:lnTo>
                  <a:cubicBezTo>
                    <a:pt x="8760713" y="1095477"/>
                    <a:pt x="8754793" y="1104351"/>
                    <a:pt x="8747558" y="1104351"/>
                  </a:cubicBezTo>
                  <a:lnTo>
                    <a:pt x="13154" y="1104351"/>
                  </a:lnTo>
                  <a:cubicBezTo>
                    <a:pt x="5919" y="1104351"/>
                    <a:pt x="0" y="1095477"/>
                    <a:pt x="0" y="1084630"/>
                  </a:cubicBezTo>
                  <a:lnTo>
                    <a:pt x="0" y="19721"/>
                  </a:lnTo>
                  <a:cubicBezTo>
                    <a:pt x="0" y="8874"/>
                    <a:pt x="5919" y="0"/>
                    <a:pt x="13154" y="0"/>
                  </a:cubicBezTo>
                  <a:moveTo>
                    <a:pt x="13154" y="39441"/>
                  </a:moveTo>
                  <a:lnTo>
                    <a:pt x="13154" y="19721"/>
                  </a:lnTo>
                  <a:lnTo>
                    <a:pt x="26308" y="19721"/>
                  </a:lnTo>
                  <a:lnTo>
                    <a:pt x="26308" y="1084630"/>
                  </a:lnTo>
                  <a:lnTo>
                    <a:pt x="13154" y="1084630"/>
                  </a:lnTo>
                  <a:lnTo>
                    <a:pt x="13154" y="1064910"/>
                  </a:lnTo>
                  <a:lnTo>
                    <a:pt x="8747558" y="1064910"/>
                  </a:lnTo>
                  <a:lnTo>
                    <a:pt x="8747558" y="1084630"/>
                  </a:lnTo>
                  <a:lnTo>
                    <a:pt x="8734404" y="1084630"/>
                  </a:lnTo>
                  <a:lnTo>
                    <a:pt x="8734404" y="19721"/>
                  </a:lnTo>
                  <a:lnTo>
                    <a:pt x="8747558" y="19721"/>
                  </a:lnTo>
                  <a:lnTo>
                    <a:pt x="8747558" y="39441"/>
                  </a:lnTo>
                  <a:lnTo>
                    <a:pt x="13154" y="39441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8760713" cy="1171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          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45180" y="2522420"/>
            <a:ext cx="15483440" cy="1327983"/>
            <a:chOff x="0" y="0"/>
            <a:chExt cx="20644587" cy="1770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44586" cy="1770643"/>
            </a:xfrm>
            <a:custGeom>
              <a:avLst/>
              <a:gdLst/>
              <a:ahLst/>
              <a:cxnLst/>
              <a:rect r="r" b="b" t="t" l="l"/>
              <a:pathLst>
                <a:path h="1770643" w="20644586">
                  <a:moveTo>
                    <a:pt x="0" y="0"/>
                  </a:moveTo>
                  <a:lnTo>
                    <a:pt x="20644586" y="0"/>
                  </a:lnTo>
                  <a:lnTo>
                    <a:pt x="20644586" y="1770643"/>
                  </a:lnTo>
                  <a:lnTo>
                    <a:pt x="0" y="17706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644587" cy="1799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17365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Explainable and Actionable Machine Learning for Robust Student Performance Prediction Across Courses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906586" y="6276975"/>
            <a:ext cx="8833540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Khorshed Alam</a:t>
            </a:r>
          </a:p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</a:t>
            </a:r>
          </a:p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CSE</a:t>
            </a:r>
          </a:p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Notre Dame University Bangladesh</a:t>
            </a:r>
          </a:p>
          <a:p>
            <a:pPr algn="ctr">
              <a:lnSpc>
                <a:spcPts val="40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998376" y="9477375"/>
            <a:ext cx="31484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February 3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6531" y="5748274"/>
            <a:ext cx="5907767" cy="398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MARIA FARDUS MITA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(0692230005101003)</a:t>
            </a:r>
          </a:p>
          <a:p>
            <a:pPr algn="ctr">
              <a:lnSpc>
                <a:spcPts val="37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ISTIAK ALAM </a:t>
            </a:r>
          </a:p>
          <a:p>
            <a:pPr algn="ctr">
              <a:lnSpc>
                <a:spcPts val="37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(0692230005101005)</a:t>
            </a:r>
          </a:p>
          <a:p>
            <a:pPr algn="ctr">
              <a:lnSpc>
                <a:spcPts val="37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SYEDA NAZME RAHMAN </a:t>
            </a:r>
          </a:p>
          <a:p>
            <a:pPr algn="ctr">
              <a:lnSpc>
                <a:spcPts val="37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(0692230005101011)</a:t>
            </a:r>
          </a:p>
          <a:p>
            <a:pPr algn="ctr">
              <a:lnSpc>
                <a:spcPts val="3457"/>
              </a:lnSpc>
            </a:pPr>
          </a:p>
          <a:p>
            <a:pPr algn="ctr">
              <a:lnSpc>
                <a:spcPts val="2926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: CSE20 </a:t>
            </a:r>
          </a:p>
          <a:p>
            <a:pPr algn="ctr" marL="398146" indent="-199073" lvl="1">
              <a:lnSpc>
                <a:spcPts val="2376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126686" y="4772025"/>
            <a:ext cx="7487457" cy="857250"/>
            <a:chOff x="0" y="0"/>
            <a:chExt cx="7099219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5090" y="27051"/>
              <a:ext cx="7028985" cy="758698"/>
            </a:xfrm>
            <a:custGeom>
              <a:avLst/>
              <a:gdLst/>
              <a:ahLst/>
              <a:cxnLst/>
              <a:rect r="r" b="b" t="t" l="l"/>
              <a:pathLst>
                <a:path h="758698" w="7028985">
                  <a:moveTo>
                    <a:pt x="0" y="0"/>
                  </a:moveTo>
                  <a:lnTo>
                    <a:pt x="7028984" y="0"/>
                  </a:lnTo>
                  <a:lnTo>
                    <a:pt x="7028984" y="758698"/>
                  </a:lnTo>
                  <a:lnTo>
                    <a:pt x="0" y="758698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99164" cy="812800"/>
            </a:xfrm>
            <a:custGeom>
              <a:avLst/>
              <a:gdLst/>
              <a:ahLst/>
              <a:cxnLst/>
              <a:rect r="r" b="b" t="t" l="l"/>
              <a:pathLst>
                <a:path h="812800" w="7099164">
                  <a:moveTo>
                    <a:pt x="35090" y="0"/>
                  </a:moveTo>
                  <a:lnTo>
                    <a:pt x="7064074" y="0"/>
                  </a:lnTo>
                  <a:cubicBezTo>
                    <a:pt x="7083513" y="0"/>
                    <a:pt x="7099164" y="12192"/>
                    <a:pt x="7099164" y="27051"/>
                  </a:cubicBezTo>
                  <a:lnTo>
                    <a:pt x="7099164" y="785749"/>
                  </a:lnTo>
                  <a:cubicBezTo>
                    <a:pt x="7099164" y="800735"/>
                    <a:pt x="7083349" y="812800"/>
                    <a:pt x="7064074" y="812800"/>
                  </a:cubicBezTo>
                  <a:lnTo>
                    <a:pt x="35090" y="812800"/>
                  </a:lnTo>
                  <a:cubicBezTo>
                    <a:pt x="15815" y="812800"/>
                    <a:pt x="0" y="800608"/>
                    <a:pt x="0" y="785749"/>
                  </a:cubicBezTo>
                  <a:lnTo>
                    <a:pt x="0" y="27051"/>
                  </a:lnTo>
                  <a:cubicBezTo>
                    <a:pt x="0" y="12192"/>
                    <a:pt x="15815" y="0"/>
                    <a:pt x="35090" y="0"/>
                  </a:cubicBezTo>
                  <a:moveTo>
                    <a:pt x="35090" y="54229"/>
                  </a:moveTo>
                  <a:lnTo>
                    <a:pt x="35090" y="27051"/>
                  </a:lnTo>
                  <a:lnTo>
                    <a:pt x="70344" y="27051"/>
                  </a:lnTo>
                  <a:lnTo>
                    <a:pt x="70344" y="785749"/>
                  </a:lnTo>
                  <a:lnTo>
                    <a:pt x="35090" y="785749"/>
                  </a:lnTo>
                  <a:lnTo>
                    <a:pt x="35090" y="758571"/>
                  </a:lnTo>
                  <a:lnTo>
                    <a:pt x="7064074" y="758571"/>
                  </a:lnTo>
                  <a:lnTo>
                    <a:pt x="7064074" y="785622"/>
                  </a:lnTo>
                  <a:lnTo>
                    <a:pt x="7028984" y="785622"/>
                  </a:lnTo>
                  <a:lnTo>
                    <a:pt x="7028984" y="27051"/>
                  </a:lnTo>
                  <a:lnTo>
                    <a:pt x="7064074" y="27051"/>
                  </a:lnTo>
                  <a:lnTo>
                    <a:pt x="7064074" y="54229"/>
                  </a:lnTo>
                  <a:lnTo>
                    <a:pt x="35090" y="54229"/>
                  </a:ln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099219" cy="841375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Presented by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18091" y="4772025"/>
            <a:ext cx="7810529" cy="857250"/>
            <a:chOff x="0" y="0"/>
            <a:chExt cx="7405538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6604" y="27051"/>
              <a:ext cx="7332274" cy="758698"/>
            </a:xfrm>
            <a:custGeom>
              <a:avLst/>
              <a:gdLst/>
              <a:ahLst/>
              <a:cxnLst/>
              <a:rect r="r" b="b" t="t" l="l"/>
              <a:pathLst>
                <a:path h="758698" w="7332274">
                  <a:moveTo>
                    <a:pt x="0" y="0"/>
                  </a:moveTo>
                  <a:lnTo>
                    <a:pt x="7332273" y="0"/>
                  </a:lnTo>
                  <a:lnTo>
                    <a:pt x="7332273" y="758698"/>
                  </a:lnTo>
                  <a:lnTo>
                    <a:pt x="0" y="758698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5481" cy="812800"/>
            </a:xfrm>
            <a:custGeom>
              <a:avLst/>
              <a:gdLst/>
              <a:ahLst/>
              <a:cxnLst/>
              <a:rect r="r" b="b" t="t" l="l"/>
              <a:pathLst>
                <a:path h="812800" w="7405481">
                  <a:moveTo>
                    <a:pt x="36604" y="0"/>
                  </a:moveTo>
                  <a:lnTo>
                    <a:pt x="7368877" y="0"/>
                  </a:lnTo>
                  <a:cubicBezTo>
                    <a:pt x="7389155" y="0"/>
                    <a:pt x="7405481" y="12192"/>
                    <a:pt x="7405481" y="27051"/>
                  </a:cubicBezTo>
                  <a:lnTo>
                    <a:pt x="7405481" y="785749"/>
                  </a:lnTo>
                  <a:cubicBezTo>
                    <a:pt x="7405481" y="800735"/>
                    <a:pt x="7388984" y="812800"/>
                    <a:pt x="7368877" y="812800"/>
                  </a:cubicBezTo>
                  <a:lnTo>
                    <a:pt x="36604" y="812800"/>
                  </a:lnTo>
                  <a:cubicBezTo>
                    <a:pt x="16497" y="812800"/>
                    <a:pt x="0" y="800608"/>
                    <a:pt x="0" y="785749"/>
                  </a:cubicBezTo>
                  <a:lnTo>
                    <a:pt x="0" y="27051"/>
                  </a:lnTo>
                  <a:cubicBezTo>
                    <a:pt x="0" y="12192"/>
                    <a:pt x="16497" y="0"/>
                    <a:pt x="36604" y="0"/>
                  </a:cubicBezTo>
                  <a:moveTo>
                    <a:pt x="36604" y="54229"/>
                  </a:moveTo>
                  <a:lnTo>
                    <a:pt x="36604" y="27051"/>
                  </a:lnTo>
                  <a:lnTo>
                    <a:pt x="73379" y="27051"/>
                  </a:lnTo>
                  <a:lnTo>
                    <a:pt x="73379" y="785749"/>
                  </a:lnTo>
                  <a:lnTo>
                    <a:pt x="36604" y="785749"/>
                  </a:lnTo>
                  <a:lnTo>
                    <a:pt x="36604" y="758571"/>
                  </a:lnTo>
                  <a:lnTo>
                    <a:pt x="7368877" y="758571"/>
                  </a:lnTo>
                  <a:lnTo>
                    <a:pt x="7368877" y="785622"/>
                  </a:lnTo>
                  <a:lnTo>
                    <a:pt x="7332273" y="785622"/>
                  </a:lnTo>
                  <a:lnTo>
                    <a:pt x="7332273" y="27051"/>
                  </a:lnTo>
                  <a:lnTo>
                    <a:pt x="7368877" y="27051"/>
                  </a:lnTo>
                  <a:lnTo>
                    <a:pt x="7368877" y="54229"/>
                  </a:lnTo>
                  <a:lnTo>
                    <a:pt x="36604" y="54229"/>
                  </a:ln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405538" cy="841375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Supe</a:t>
              </a:r>
              <a:r>
                <a:rPr lang="en-US" b="true" sz="36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rvised by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286" y="515036"/>
            <a:ext cx="1541757" cy="1541757"/>
            <a:chOff x="0" y="0"/>
            <a:chExt cx="2537798" cy="2537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971800" y="662112"/>
            <a:ext cx="12344400" cy="1073944"/>
            <a:chOff x="0" y="0"/>
            <a:chExt cx="16459200" cy="1431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31924"/>
            </a:xfrm>
            <a:custGeom>
              <a:avLst/>
              <a:gdLst/>
              <a:ahLst/>
              <a:cxnLst/>
              <a:rect r="r" b="b" t="t" l="l"/>
              <a:pathLst>
                <a:path h="143192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31924"/>
                  </a:lnTo>
                  <a:lnTo>
                    <a:pt x="0" y="1431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459200" cy="1479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594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71800" y="9534525"/>
            <a:ext cx="3200400" cy="547688"/>
            <a:chOff x="0" y="0"/>
            <a:chExt cx="42672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67200" cy="730250"/>
            </a:xfrm>
            <a:custGeom>
              <a:avLst/>
              <a:gdLst/>
              <a:ahLst/>
              <a:cxnLst/>
              <a:rect r="r" b="b" t="t" l="l"/>
              <a:pathLst>
                <a:path h="73025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67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*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53690" y="1939671"/>
            <a:ext cx="10483922" cy="634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works/Literature review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and Methodology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Implementation/Proposed Algorithm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</a:p>
          <a:p>
            <a:pPr algn="l" marL="760095" indent="-380048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314365" y="691157"/>
            <a:ext cx="12344400" cy="1417050"/>
            <a:chOff x="0" y="0"/>
            <a:chExt cx="16459200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59200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86150" y="2621240"/>
            <a:ext cx="12000829" cy="534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2012" indent="-421006" lvl="1">
              <a:lnSpc>
                <a:spcPts val="612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</a:t>
            </a: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dent performance prediction is widely used in education.</a:t>
            </a:r>
          </a:p>
          <a:p>
            <a:pPr algn="just" marL="842012" indent="-421006" lvl="1">
              <a:lnSpc>
                <a:spcPts val="612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models are black-box and focus only on accuracy. Lack of explainability limits trust and real-world use.</a:t>
            </a:r>
          </a:p>
          <a:p>
            <a:pPr algn="just" marL="842012" indent="-421006" lvl="1">
              <a:lnSpc>
                <a:spcPts val="612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work applies Explainable ML for transparent student outcome prediction.</a:t>
            </a:r>
          </a:p>
          <a:p>
            <a:pPr algn="just">
              <a:lnSpc>
                <a:spcPts val="504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71800" y="977924"/>
            <a:ext cx="12344400" cy="1417050"/>
            <a:chOff x="0" y="0"/>
            <a:chExt cx="16459200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59200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Motivation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314823" y="2404114"/>
            <a:ext cx="12983979" cy="698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ccuracy alone is not sufficient for educational decisions.</a:t>
            </a:r>
          </a:p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Educators need explanations they 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and act u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pon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xisting studies rarely provide:</a:t>
            </a:r>
          </a:p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Early-warning prediction</a:t>
            </a:r>
          </a:p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eneralization across courses</a:t>
            </a:r>
          </a:p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feedback</a:t>
            </a:r>
          </a:p>
          <a:p>
            <a:pPr algn="just" marL="845097" indent="-422548" lvl="1">
              <a:lnSpc>
                <a:spcPts val="6028"/>
              </a:lnSpc>
              <a:buFont typeface="Arial"/>
              <a:buChar char="•"/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aims to address these gaps.</a:t>
            </a:r>
          </a:p>
          <a:p>
            <a:pPr algn="just">
              <a:lnSpc>
                <a:spcPts val="6491"/>
              </a:lnSpc>
            </a:pPr>
          </a:p>
          <a:p>
            <a:pPr algn="just">
              <a:lnSpc>
                <a:spcPts val="6491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140154" y="3786187"/>
            <a:ext cx="842620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2"/>
              </a:lnSpc>
              <a:spcBef>
                <a:spcPct val="0"/>
              </a:spcBef>
            </a:pPr>
            <a:r>
              <a:rPr lang="en-US" b="true" sz="10460">
                <a:solidFill>
                  <a:srgbClr val="172C5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Related Works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972300" y="9739312"/>
            <a:ext cx="4343400" cy="547688"/>
            <a:chOff x="0" y="0"/>
            <a:chExt cx="57912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430147" y="591346"/>
          <a:ext cx="17427707" cy="9104308"/>
        </p:xfrm>
        <a:graphic>
          <a:graphicData uri="http://schemas.openxmlformats.org/drawingml/2006/table">
            <a:tbl>
              <a:tblPr/>
              <a:tblGrid>
                <a:gridCol w="5607289"/>
                <a:gridCol w="5189068"/>
                <a:gridCol w="6631351"/>
              </a:tblGrid>
              <a:tr h="1046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Related 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38623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9650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2230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1315700" y="1952625"/>
            <a:ext cx="681605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limited to Portuguese secondary schools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Heavy 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reliance on G1 and G2 grades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SMOTE may introduce synthetic bias artifacts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No deep learning or longitudinal modeling explored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4479" y="6162675"/>
            <a:ext cx="508482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fairness and explainability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87188" y="8008147"/>
            <a:ext cx="4568403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bias analysis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Ignored demographic bias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8330" y="5821208"/>
            <a:ext cx="5048069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Using Data Mining to Predict 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Secondary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School Student Performance [2]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8330" y="7686675"/>
            <a:ext cx="4957661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Comparison of Machine Learning Techniques for the Prediction of the Student’s Academic Performance [3]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78330" y="2400300"/>
            <a:ext cx="4684667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Beyond Perf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ormance: Explaining and Ensuring Fairness in Student Academic Performance Prediction with Machine Learning [1]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49575" y="1952625"/>
            <a:ext cx="5266125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pipeline combining perf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ormance, fairness, and explainability 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Uses open-access data → reproducible research  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use of SHAP + adversarial debiasing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3040" y="785812"/>
            <a:ext cx="346420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58651" y="6121246"/>
            <a:ext cx="4512981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decisi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trees and regression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04760" y="8134350"/>
            <a:ext cx="462076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ompared multiple ML models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55939" y="602306"/>
          <a:ext cx="17176121" cy="8030001"/>
        </p:xfrm>
        <a:graphic>
          <a:graphicData uri="http://schemas.openxmlformats.org/drawingml/2006/table">
            <a:tbl>
              <a:tblPr/>
              <a:tblGrid>
                <a:gridCol w="5837853"/>
                <a:gridCol w="4339250"/>
                <a:gridCol w="6999018"/>
              </a:tblGrid>
              <a:tr h="1056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Related 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23332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Added SHAP + fairness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22738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Semi-supervised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23666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accuracy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919358" y="2168371"/>
            <a:ext cx="6675639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Does not analyze intersectional bias deeply.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socioeconomic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18980" y="4683925"/>
            <a:ext cx="517151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Lack of interpretability. 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fairness &amp; interpretable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19358" y="6751804"/>
            <a:ext cx="644474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Hard to justify to educators 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socioeconomic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568" y="4191000"/>
            <a:ext cx="5383427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Ensemble-Based Semi-Supervised Approach for Predicti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Students’ Performance. [5]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568" y="6527966"/>
            <a:ext cx="550128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orting academic decision making at higher educational institutions using machine learning-based algorithms. [6]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0568" y="1944533"/>
            <a:ext cx="5383427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explainable AI-based approach for predicting undergraduate students academic performance. [4]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99238" y="8922083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9238" y="8922083"/>
            <a:ext cx="958184" cy="958184"/>
            <a:chOff x="0" y="0"/>
            <a:chExt cx="2537798" cy="25377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48163" y="335958"/>
            <a:ext cx="18754316" cy="1046140"/>
            <a:chOff x="0" y="0"/>
            <a:chExt cx="25005755" cy="13948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005805" cy="1394841"/>
            </a:xfrm>
            <a:custGeom>
              <a:avLst/>
              <a:gdLst/>
              <a:ahLst/>
              <a:cxnLst/>
              <a:rect r="r" b="b" t="t" l="l"/>
              <a:pathLst>
                <a:path h="1394841" w="25005805">
                  <a:moveTo>
                    <a:pt x="0" y="0"/>
                  </a:moveTo>
                  <a:lnTo>
                    <a:pt x="25005805" y="0"/>
                  </a:lnTo>
                  <a:lnTo>
                    <a:pt x="25005805" y="1394841"/>
                  </a:lnTo>
                  <a:lnTo>
                    <a:pt x="0" y="1394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58" r="0" b="-3687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971800" y="231611"/>
            <a:ext cx="12344400" cy="1417050"/>
            <a:chOff x="0" y="0"/>
            <a:chExt cx="16459200" cy="1889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6459200" cy="203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</a:t>
              </a:r>
            </a:p>
          </p:txBody>
        </p:sp>
      </p:grpSp>
      <p:graphicFrame>
        <p:nvGraphicFramePr>
          <p:cNvPr name="Object 16" id="16"/>
          <p:cNvGraphicFramePr/>
          <p:nvPr/>
        </p:nvGraphicFramePr>
        <p:xfrm>
          <a:off x="778330" y="1794472"/>
          <a:ext cx="16230600" cy="7330704"/>
        </p:xfrm>
        <a:graphic>
          <a:graphicData uri="http://schemas.openxmlformats.org/presentationml/2006/ole">
            <p:oleObj imgW="19469100" imgH="10566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0222" y="8853227"/>
            <a:ext cx="14915525" cy="681298"/>
            <a:chOff x="0" y="0"/>
            <a:chExt cx="19887367" cy="908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595" y="28387"/>
              <a:ext cx="19836177" cy="851622"/>
            </a:xfrm>
            <a:custGeom>
              <a:avLst/>
              <a:gdLst/>
              <a:ahLst/>
              <a:cxnLst/>
              <a:rect r="r" b="b" t="t" l="l"/>
              <a:pathLst>
                <a:path h="851622" w="19836177">
                  <a:moveTo>
                    <a:pt x="0" y="0"/>
                  </a:moveTo>
                  <a:lnTo>
                    <a:pt x="19836177" y="0"/>
                  </a:lnTo>
                  <a:lnTo>
                    <a:pt x="19836177" y="851623"/>
                  </a:lnTo>
                  <a:lnTo>
                    <a:pt x="0" y="851623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887367" cy="908397"/>
            </a:xfrm>
            <a:custGeom>
              <a:avLst/>
              <a:gdLst/>
              <a:ahLst/>
              <a:cxnLst/>
              <a:rect r="r" b="b" t="t" l="l"/>
              <a:pathLst>
                <a:path h="908397" w="19887367">
                  <a:moveTo>
                    <a:pt x="25595" y="0"/>
                  </a:moveTo>
                  <a:lnTo>
                    <a:pt x="19861772" y="0"/>
                  </a:lnTo>
                  <a:cubicBezTo>
                    <a:pt x="19875849" y="0"/>
                    <a:pt x="19887367" y="12774"/>
                    <a:pt x="19887367" y="28387"/>
                  </a:cubicBezTo>
                  <a:lnTo>
                    <a:pt x="19887367" y="880010"/>
                  </a:lnTo>
                  <a:cubicBezTo>
                    <a:pt x="19887367" y="895623"/>
                    <a:pt x="19875849" y="908397"/>
                    <a:pt x="19861772" y="908397"/>
                  </a:cubicBezTo>
                  <a:lnTo>
                    <a:pt x="25595" y="908397"/>
                  </a:lnTo>
                  <a:cubicBezTo>
                    <a:pt x="11518" y="908397"/>
                    <a:pt x="0" y="895623"/>
                    <a:pt x="0" y="880010"/>
                  </a:cubicBezTo>
                  <a:lnTo>
                    <a:pt x="0" y="28387"/>
                  </a:lnTo>
                  <a:cubicBezTo>
                    <a:pt x="0" y="12774"/>
                    <a:pt x="11518" y="0"/>
                    <a:pt x="25595" y="0"/>
                  </a:cubicBezTo>
                  <a:moveTo>
                    <a:pt x="25595" y="56775"/>
                  </a:moveTo>
                  <a:lnTo>
                    <a:pt x="25595" y="28387"/>
                  </a:lnTo>
                  <a:lnTo>
                    <a:pt x="51190" y="28387"/>
                  </a:lnTo>
                  <a:lnTo>
                    <a:pt x="51190" y="880010"/>
                  </a:lnTo>
                  <a:lnTo>
                    <a:pt x="25595" y="880010"/>
                  </a:lnTo>
                  <a:lnTo>
                    <a:pt x="25595" y="851622"/>
                  </a:lnTo>
                  <a:lnTo>
                    <a:pt x="19861772" y="851622"/>
                  </a:lnTo>
                  <a:lnTo>
                    <a:pt x="19861772" y="880010"/>
                  </a:lnTo>
                  <a:lnTo>
                    <a:pt x="19836177" y="880010"/>
                  </a:lnTo>
                  <a:lnTo>
                    <a:pt x="19836177" y="28387"/>
                  </a:lnTo>
                  <a:lnTo>
                    <a:pt x="19861772" y="28387"/>
                  </a:lnTo>
                  <a:lnTo>
                    <a:pt x="19861772" y="56775"/>
                  </a:lnTo>
                  <a:lnTo>
                    <a:pt x="25595" y="56775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887367" cy="975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71800" y="535255"/>
            <a:ext cx="12344400" cy="1417050"/>
            <a:chOff x="0" y="0"/>
            <a:chExt cx="16459200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16459200" cy="203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36609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Gap Identified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2971800" y="2323089"/>
          <a:ext cx="9429750" cy="5029200"/>
        </p:xfrm>
        <a:graphic>
          <a:graphicData uri="http://schemas.openxmlformats.org/presentationml/2006/ole">
            <p:oleObj imgW="11315700" imgH="6908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71800" y="865638"/>
            <a:ext cx="12344400" cy="1417053"/>
            <a:chOff x="0" y="0"/>
            <a:chExt cx="16459200" cy="18894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400"/>
            </a:xfrm>
            <a:custGeom>
              <a:avLst/>
              <a:gdLst/>
              <a:ahLst/>
              <a:cxnLst/>
              <a:rect r="r" b="b" t="t" l="l"/>
              <a:pathLst>
                <a:path h="1889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400"/>
                  </a:lnTo>
                  <a:lnTo>
                    <a:pt x="0" y="1889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59200" cy="1927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73358" y="2499868"/>
            <a:ext cx="12957471" cy="525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64" indent="-367032" lvl="1">
              <a:lnSpc>
                <a:spcPts val="414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address limitations of black-box models</a:t>
            </a:r>
          </a:p>
          <a:p>
            <a:pPr algn="just">
              <a:lnSpc>
                <a:spcPts val="4148"/>
              </a:lnSpc>
            </a:pPr>
          </a:p>
          <a:p>
            <a:pPr algn="just" marL="734064" indent="-367032" lvl="1">
              <a:lnSpc>
                <a:spcPts val="414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mprove predictive performance over baseline methods</a:t>
            </a:r>
          </a:p>
          <a:p>
            <a:pPr algn="just">
              <a:lnSpc>
                <a:spcPts val="4148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734064" indent="-367032" lvl="1">
              <a:lnSpc>
                <a:spcPts val="414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nsure fairness and bias awareness</a:t>
            </a:r>
          </a:p>
          <a:p>
            <a:pPr algn="just">
              <a:lnSpc>
                <a:spcPts val="4148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734064" indent="-367032" lvl="1">
              <a:lnSpc>
                <a:spcPts val="414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ntegrate Human-in-the-Loop validation</a:t>
            </a:r>
          </a:p>
          <a:p>
            <a:pPr algn="just">
              <a:lnSpc>
                <a:spcPts val="4148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734064" indent="-367032" lvl="1">
              <a:lnSpc>
                <a:spcPts val="414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esign a deployment-ready decision support framework</a:t>
            </a:r>
          </a:p>
          <a:p>
            <a:pPr algn="just">
              <a:lnSpc>
                <a:spcPts val="4148"/>
              </a:lnSpc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79438"/>
            <a:chOff x="0" y="0"/>
            <a:chExt cx="19735800" cy="9059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8310"/>
              <a:ext cx="19685000" cy="849297"/>
            </a:xfrm>
            <a:custGeom>
              <a:avLst/>
              <a:gdLst/>
              <a:ahLst/>
              <a:cxnLst/>
              <a:rect r="r" b="b" t="t" l="l"/>
              <a:pathLst>
                <a:path h="849297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849297"/>
                  </a:lnTo>
                  <a:lnTo>
                    <a:pt x="0" y="849297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905917"/>
            </a:xfrm>
            <a:custGeom>
              <a:avLst/>
              <a:gdLst/>
              <a:ahLst/>
              <a:cxnLst/>
              <a:rect r="r" b="b" t="t" l="l"/>
              <a:pathLst>
                <a:path h="905917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2739"/>
                    <a:pt x="19735800" y="28310"/>
                  </a:cubicBezTo>
                  <a:lnTo>
                    <a:pt x="19735800" y="877607"/>
                  </a:lnTo>
                  <a:cubicBezTo>
                    <a:pt x="19735800" y="893177"/>
                    <a:pt x="19724370" y="905917"/>
                    <a:pt x="19710400" y="905917"/>
                  </a:cubicBezTo>
                  <a:lnTo>
                    <a:pt x="25400" y="905917"/>
                  </a:lnTo>
                  <a:cubicBezTo>
                    <a:pt x="11430" y="905917"/>
                    <a:pt x="0" y="893177"/>
                    <a:pt x="0" y="877607"/>
                  </a:cubicBezTo>
                  <a:lnTo>
                    <a:pt x="0" y="28310"/>
                  </a:lnTo>
                  <a:cubicBezTo>
                    <a:pt x="0" y="12739"/>
                    <a:pt x="11430" y="0"/>
                    <a:pt x="25400" y="0"/>
                  </a:cubicBezTo>
                  <a:moveTo>
                    <a:pt x="25400" y="56620"/>
                  </a:moveTo>
                  <a:lnTo>
                    <a:pt x="25400" y="28310"/>
                  </a:lnTo>
                  <a:lnTo>
                    <a:pt x="50800" y="28310"/>
                  </a:lnTo>
                  <a:lnTo>
                    <a:pt x="50800" y="877607"/>
                  </a:lnTo>
                  <a:lnTo>
                    <a:pt x="25400" y="877607"/>
                  </a:lnTo>
                  <a:lnTo>
                    <a:pt x="25400" y="849297"/>
                  </a:lnTo>
                  <a:lnTo>
                    <a:pt x="19710400" y="849297"/>
                  </a:lnTo>
                  <a:lnTo>
                    <a:pt x="19710400" y="877607"/>
                  </a:lnTo>
                  <a:lnTo>
                    <a:pt x="19685000" y="877607"/>
                  </a:lnTo>
                  <a:lnTo>
                    <a:pt x="19685000" y="28310"/>
                  </a:lnTo>
                  <a:lnTo>
                    <a:pt x="19710400" y="28310"/>
                  </a:lnTo>
                  <a:lnTo>
                    <a:pt x="19710400" y="56620"/>
                  </a:lnTo>
                  <a:lnTo>
                    <a:pt x="25400" y="5662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9735800" cy="934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71800" y="361950"/>
            <a:ext cx="12344400" cy="1417050"/>
            <a:chOff x="0" y="0"/>
            <a:chExt cx="16459200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59200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 used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91984" y="1640721"/>
            <a:ext cx="11304032" cy="47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Name: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Student Performance Dataset</a:t>
            </a:r>
          </a:p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Source: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UCI Machine Learning Repository</a:t>
            </a:r>
          </a:p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Domain: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</a:t>
            </a:r>
            <a:r>
              <a:rPr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ion</a:t>
            </a:r>
          </a:p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</a:t>
            </a:r>
            <a:r>
              <a:rPr lang="en-US" b="true" sz="3400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3400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iv</a:t>
            </a:r>
            <a:r>
              <a:rPr lang="en-US" b="true" sz="3400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b="true" sz="3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alyz</a:t>
            </a:r>
            <a:r>
              <a:rPr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predict student academic performance</a:t>
            </a:r>
          </a:p>
          <a:p>
            <a:pPr algn="just">
              <a:lnSpc>
                <a:spcPts val="4760"/>
              </a:lnSpc>
            </a:pPr>
          </a:p>
          <a:p>
            <a:pPr algn="just">
              <a:lnSpc>
                <a:spcPts val="4760"/>
              </a:lnSpc>
            </a:pPr>
          </a:p>
          <a:p>
            <a:pPr algn="just">
              <a:lnSpc>
                <a:spcPts val="4760"/>
              </a:lnSpc>
            </a:pPr>
          </a:p>
          <a:p>
            <a:pPr algn="just">
              <a:lnSpc>
                <a:spcPts val="476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7912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CSE, NDUB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28190" y="4903443"/>
            <a:ext cx="6233059" cy="3099462"/>
            <a:chOff x="0" y="0"/>
            <a:chExt cx="1641629" cy="8163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1629" cy="816319"/>
            </a:xfrm>
            <a:custGeom>
              <a:avLst/>
              <a:gdLst/>
              <a:ahLst/>
              <a:cxnLst/>
              <a:rect r="r" b="b" t="t" l="l"/>
              <a:pathLst>
                <a:path h="816319" w="1641629">
                  <a:moveTo>
                    <a:pt x="0" y="0"/>
                  </a:moveTo>
                  <a:lnTo>
                    <a:pt x="1641629" y="0"/>
                  </a:lnTo>
                  <a:lnTo>
                    <a:pt x="1641629" y="816319"/>
                  </a:lnTo>
                  <a:lnTo>
                    <a:pt x="0" y="816319"/>
                  </a:ln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41629" cy="873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97141" y="4880966"/>
            <a:ext cx="5969122" cy="3119438"/>
            <a:chOff x="0" y="0"/>
            <a:chExt cx="1572114" cy="821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72114" cy="821580"/>
            </a:xfrm>
            <a:custGeom>
              <a:avLst/>
              <a:gdLst/>
              <a:ahLst/>
              <a:cxnLst/>
              <a:rect r="r" b="b" t="t" l="l"/>
              <a:pathLst>
                <a:path h="821580" w="1572114">
                  <a:moveTo>
                    <a:pt x="0" y="0"/>
                  </a:moveTo>
                  <a:lnTo>
                    <a:pt x="1572114" y="0"/>
                  </a:lnTo>
                  <a:lnTo>
                    <a:pt x="1572114" y="821580"/>
                  </a:lnTo>
                  <a:lnTo>
                    <a:pt x="0" y="821580"/>
                  </a:ln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572114" cy="878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2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34084" y="4903443"/>
            <a:ext cx="3606647" cy="3099462"/>
            <a:chOff x="0" y="0"/>
            <a:chExt cx="812800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DD6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2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1915" y="5093374"/>
            <a:ext cx="5945611" cy="290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</a:t>
            </a: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dex Range: 1044 entries, 0 to 1043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Features: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input attributes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Files:</a:t>
            </a:r>
          </a:p>
          <a:p>
            <a:pPr algn="l" marL="647697" indent="-323848" lvl="1">
              <a:lnSpc>
                <a:spcPts val="386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student-mat.csv (Mathematics)</a:t>
            </a:r>
          </a:p>
          <a:p>
            <a:pPr algn="l" marL="647697" indent="-323848" lvl="1">
              <a:lnSpc>
                <a:spcPts val="386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student-por.csv (Portuguese)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939245" y="5095875"/>
            <a:ext cx="5376763" cy="290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2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Types</a:t>
            </a:r>
          </a:p>
          <a:p>
            <a:pPr algn="l" marL="647697" indent="-323848" lvl="1">
              <a:lnSpc>
                <a:spcPts val="386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orical (e.g., sex, school)</a:t>
            </a:r>
          </a:p>
          <a:p>
            <a:pPr algn="l" marL="647697" indent="-323848" lvl="1">
              <a:lnSpc>
                <a:spcPts val="386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Ordinal/Integer (e.g., study time, grades)</a:t>
            </a:r>
          </a:p>
          <a:p>
            <a:pPr algn="l" marL="647697" indent="-323848" lvl="1">
              <a:lnSpc>
                <a:spcPts val="386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(yes/no features) 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233649" y="5760398"/>
            <a:ext cx="3396628" cy="173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b="true" sz="246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b="true" sz="246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missing values</a:t>
            </a:r>
          </a:p>
          <a:p>
            <a:pPr algn="ctr">
              <a:lnSpc>
                <a:spcPts val="3456"/>
              </a:lnSpc>
            </a:pPr>
            <a:r>
              <a:rPr lang="en-US" b="true" sz="246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Clean and well-structured dataset</a:t>
            </a:r>
          </a:p>
          <a:p>
            <a:pPr algn="ctr">
              <a:lnSpc>
                <a:spcPts val="34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222403" y="603544"/>
            <a:ext cx="4093297" cy="1417050"/>
            <a:chOff x="0" y="0"/>
            <a:chExt cx="5457729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57729" cy="1889396"/>
            </a:xfrm>
            <a:custGeom>
              <a:avLst/>
              <a:gdLst/>
              <a:ahLst/>
              <a:cxnLst/>
              <a:rect r="r" b="b" t="t" l="l"/>
              <a:pathLst>
                <a:path h="1889396" w="5457729">
                  <a:moveTo>
                    <a:pt x="0" y="0"/>
                  </a:moveTo>
                  <a:lnTo>
                    <a:pt x="5457729" y="0"/>
                  </a:lnTo>
                  <a:lnTo>
                    <a:pt x="5457729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57729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cont.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28865" y="2214563"/>
            <a:ext cx="15105816" cy="580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Types </a:t>
            </a: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 Variables</a:t>
            </a:r>
          </a:p>
          <a:p>
            <a:pPr algn="ctr">
              <a:lnSpc>
                <a:spcPts val="3740"/>
              </a:lnSpc>
            </a:pPr>
          </a:p>
          <a:p>
            <a:pPr algn="l">
              <a:lnSpc>
                <a:spcPts val="3869"/>
              </a:lnSpc>
            </a:pPr>
            <a:r>
              <a:rPr lang="en-US" b="true" sz="2999" u="sng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Features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Demographic info: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school, sex, age, address, family size, parents’ cohabitation. 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Parental background: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parents’ education, parents’ job. 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School &amp; behavioral: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travel time, study time, failures, extra support, family support, paid classes. 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Lifestyle &amp; activity: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free time, going out with friends, alcohol consumption (workday/weekend). </a:t>
            </a:r>
          </a:p>
          <a:p>
            <a:pPr algn="l">
              <a:lnSpc>
                <a:spcPts val="386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Attendance: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absences. </a:t>
            </a:r>
          </a:p>
          <a:p>
            <a:pPr algn="l">
              <a:lnSpc>
                <a:spcPts val="3869"/>
              </a:lnSpc>
            </a:pPr>
            <a:r>
              <a:rPr lang="en-US" b="true" sz="2999" u="sng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Variable</a:t>
            </a:r>
          </a:p>
          <a:p>
            <a:pPr algn="l">
              <a:lnSpc>
                <a:spcPts val="386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G3: Final grade (numeric 0-20)</a:t>
            </a:r>
          </a:p>
          <a:p>
            <a:pPr algn="l">
              <a:lnSpc>
                <a:spcPts val="386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used for regression or converted to categories (e.g., pass/fail) for classification.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81298"/>
            <a:chOff x="0" y="0"/>
            <a:chExt cx="19735800" cy="908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8387"/>
              <a:ext cx="19685000" cy="851622"/>
            </a:xfrm>
            <a:custGeom>
              <a:avLst/>
              <a:gdLst/>
              <a:ahLst/>
              <a:cxnLst/>
              <a:rect r="r" b="b" t="t" l="l"/>
              <a:pathLst>
                <a:path h="851622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851623"/>
                  </a:lnTo>
                  <a:lnTo>
                    <a:pt x="0" y="851623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908397"/>
            </a:xfrm>
            <a:custGeom>
              <a:avLst/>
              <a:gdLst/>
              <a:ahLst/>
              <a:cxnLst/>
              <a:rect r="r" b="b" t="t" l="l"/>
              <a:pathLst>
                <a:path h="908397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2774"/>
                    <a:pt x="19735800" y="28387"/>
                  </a:cubicBezTo>
                  <a:lnTo>
                    <a:pt x="19735800" y="880010"/>
                  </a:lnTo>
                  <a:cubicBezTo>
                    <a:pt x="19735800" y="895623"/>
                    <a:pt x="19724370" y="908397"/>
                    <a:pt x="19710400" y="908397"/>
                  </a:cubicBezTo>
                  <a:lnTo>
                    <a:pt x="25400" y="908397"/>
                  </a:lnTo>
                  <a:cubicBezTo>
                    <a:pt x="11430" y="908397"/>
                    <a:pt x="0" y="895623"/>
                    <a:pt x="0" y="880010"/>
                  </a:cubicBezTo>
                  <a:lnTo>
                    <a:pt x="0" y="28387"/>
                  </a:lnTo>
                  <a:cubicBezTo>
                    <a:pt x="0" y="12774"/>
                    <a:pt x="11430" y="0"/>
                    <a:pt x="25400" y="0"/>
                  </a:cubicBezTo>
                  <a:moveTo>
                    <a:pt x="25400" y="56775"/>
                  </a:moveTo>
                  <a:lnTo>
                    <a:pt x="25400" y="28387"/>
                  </a:lnTo>
                  <a:lnTo>
                    <a:pt x="50800" y="28387"/>
                  </a:lnTo>
                  <a:lnTo>
                    <a:pt x="50800" y="880010"/>
                  </a:lnTo>
                  <a:lnTo>
                    <a:pt x="25400" y="880010"/>
                  </a:lnTo>
                  <a:lnTo>
                    <a:pt x="25400" y="851622"/>
                  </a:lnTo>
                  <a:lnTo>
                    <a:pt x="19710400" y="851622"/>
                  </a:lnTo>
                  <a:lnTo>
                    <a:pt x="19710400" y="880010"/>
                  </a:lnTo>
                  <a:lnTo>
                    <a:pt x="19685000" y="880010"/>
                  </a:lnTo>
                  <a:lnTo>
                    <a:pt x="19685000" y="28387"/>
                  </a:lnTo>
                  <a:lnTo>
                    <a:pt x="19710400" y="28387"/>
                  </a:lnTo>
                  <a:lnTo>
                    <a:pt x="19710400" y="56775"/>
                  </a:lnTo>
                  <a:lnTo>
                    <a:pt x="25400" y="56775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975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71800" y="411956"/>
            <a:ext cx="12344400" cy="1417050"/>
            <a:chOff x="0" y="0"/>
            <a:chExt cx="16459200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59200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Tools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71978" y="2149902"/>
            <a:ext cx="11000644" cy="659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 Python 3.10</a:t>
            </a:r>
          </a:p>
          <a:p>
            <a:pPr algn="l">
              <a:lnSpc>
                <a:spcPts val="5805"/>
              </a:lnSpc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Libraries:</a:t>
            </a:r>
          </a:p>
          <a:p>
            <a:pPr algn="l" marL="798298" indent="-399149" lvl="1">
              <a:lnSpc>
                <a:spcPts val="5805"/>
              </a:lnSpc>
              <a:buFont typeface="Arial"/>
              <a:buChar char="•"/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(ML &amp; evaluation)</a:t>
            </a:r>
          </a:p>
          <a:p>
            <a:pPr algn="l" marL="798298" indent="-399149" lvl="1">
              <a:lnSpc>
                <a:spcPts val="5805"/>
              </a:lnSpc>
              <a:buFont typeface="Arial"/>
              <a:buChar char="•"/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(boosting model)</a:t>
            </a:r>
          </a:p>
          <a:p>
            <a:pPr algn="l" marL="798298" indent="-399149" lvl="1">
              <a:lnSpc>
                <a:spcPts val="5805"/>
              </a:lnSpc>
              <a:buFont typeface="Arial"/>
              <a:buChar char="•"/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Imbalanced-learn (SMOTE-NC)</a:t>
            </a:r>
          </a:p>
          <a:p>
            <a:pPr algn="l" marL="798298" indent="-399149" lvl="1">
              <a:lnSpc>
                <a:spcPts val="5805"/>
              </a:lnSpc>
              <a:buFont typeface="Arial"/>
              <a:buChar char="•"/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&amp; LIME (explainability)</a:t>
            </a:r>
          </a:p>
          <a:p>
            <a:pPr algn="l" marL="798298" indent="-399149" lvl="1">
              <a:lnSpc>
                <a:spcPts val="5805"/>
              </a:lnSpc>
              <a:buFont typeface="Arial"/>
              <a:buChar char="•"/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in the Loop (validation)</a:t>
            </a:r>
          </a:p>
          <a:p>
            <a:pPr algn="l">
              <a:lnSpc>
                <a:spcPts val="5805"/>
              </a:lnSpc>
            </a:pPr>
            <a:r>
              <a:rPr lang="en-US" sz="3697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Platform: Google Colab, Jypyterlab</a:t>
            </a:r>
          </a:p>
          <a:p>
            <a:pPr algn="l">
              <a:lnSpc>
                <a:spcPts val="5805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251042" y="2389430"/>
            <a:ext cx="2805404" cy="937906"/>
          </a:xfrm>
          <a:custGeom>
            <a:avLst/>
            <a:gdLst/>
            <a:ahLst/>
            <a:cxnLst/>
            <a:rect r="r" b="b" t="t" l="l"/>
            <a:pathLst>
              <a:path h="937906" w="2805404">
                <a:moveTo>
                  <a:pt x="0" y="0"/>
                </a:moveTo>
                <a:lnTo>
                  <a:pt x="2805404" y="0"/>
                </a:lnTo>
                <a:lnTo>
                  <a:pt x="2805404" y="937905"/>
                </a:lnTo>
                <a:lnTo>
                  <a:pt x="0" y="937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51" t="0" r="-13480" b="-170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9759369" y="3264636"/>
            <a:ext cx="4674578" cy="2270255"/>
          </a:xfrm>
          <a:custGeom>
            <a:avLst/>
            <a:gdLst/>
            <a:ahLst/>
            <a:cxnLst/>
            <a:rect r="r" b="b" t="t" l="l"/>
            <a:pathLst>
              <a:path h="2270255" w="4674578">
                <a:moveTo>
                  <a:pt x="0" y="0"/>
                </a:moveTo>
                <a:lnTo>
                  <a:pt x="4674578" y="0"/>
                </a:lnTo>
                <a:lnTo>
                  <a:pt x="4674578" y="2270255"/>
                </a:lnTo>
                <a:lnTo>
                  <a:pt x="0" y="2270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2" t="-19629" r="-7869" b="-3108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096658" y="5983987"/>
            <a:ext cx="5426506" cy="2463268"/>
          </a:xfrm>
          <a:custGeom>
            <a:avLst/>
            <a:gdLst/>
            <a:ahLst/>
            <a:cxnLst/>
            <a:rect r="r" b="b" t="t" l="l"/>
            <a:pathLst>
              <a:path h="2463268" w="5426506">
                <a:moveTo>
                  <a:pt x="0" y="0"/>
                </a:moveTo>
                <a:lnTo>
                  <a:pt x="5426506" y="0"/>
                </a:lnTo>
                <a:lnTo>
                  <a:pt x="5426506" y="2463267"/>
                </a:lnTo>
                <a:lnTo>
                  <a:pt x="0" y="2463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979543" y="1555591"/>
            <a:ext cx="13030738" cy="7175818"/>
          </a:xfrm>
          <a:custGeom>
            <a:avLst/>
            <a:gdLst/>
            <a:ahLst/>
            <a:cxnLst/>
            <a:rect r="r" b="b" t="t" l="l"/>
            <a:pathLst>
              <a:path h="7175818" w="13030738">
                <a:moveTo>
                  <a:pt x="0" y="0"/>
                </a:moveTo>
                <a:lnTo>
                  <a:pt x="13030738" y="0"/>
                </a:lnTo>
                <a:lnTo>
                  <a:pt x="13030738" y="7175818"/>
                </a:lnTo>
                <a:lnTo>
                  <a:pt x="0" y="7175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29" r="0" b="-182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84959" y="1342501"/>
            <a:ext cx="8518081" cy="2114429"/>
            <a:chOff x="0" y="0"/>
            <a:chExt cx="11357441" cy="28192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57441" cy="2819239"/>
            </a:xfrm>
            <a:custGeom>
              <a:avLst/>
              <a:gdLst/>
              <a:ahLst/>
              <a:cxnLst/>
              <a:rect r="r" b="b" t="t" l="l"/>
              <a:pathLst>
                <a:path h="2819239" w="11357441">
                  <a:moveTo>
                    <a:pt x="0" y="0"/>
                  </a:moveTo>
                  <a:lnTo>
                    <a:pt x="11357441" y="0"/>
                  </a:lnTo>
                  <a:lnTo>
                    <a:pt x="11357441" y="2819239"/>
                  </a:lnTo>
                  <a:lnTo>
                    <a:pt x="0" y="2819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2135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>
              <a:off x="1984300" y="1409620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4094226" y="1394438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6265149" y="1379257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8436071" y="1364076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640209" y="2879029"/>
            <a:ext cx="3268742" cy="46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b="true" sz="27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Attributes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5019" y="3576304"/>
            <a:ext cx="2381131" cy="51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School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Sex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address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famsize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Pstatus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Medu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Fedu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Mjob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Fjob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reason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guardian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traveltime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studytime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failures</a:t>
            </a:r>
          </a:p>
          <a:p>
            <a:pPr algn="just" marL="404382" indent="-202191" lvl="1">
              <a:lnSpc>
                <a:spcPts val="2622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relationshipState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93670" y="3576304"/>
            <a:ext cx="1582579" cy="51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scho</a:t>
            </a: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olsup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famsup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paidcls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activities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nursery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internet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famrel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freetime 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goout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Dalc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Walc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health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absences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G1</a:t>
            </a:r>
          </a:p>
          <a:p>
            <a:pPr algn="l" marL="404382" indent="-202191" lvl="1">
              <a:lnSpc>
                <a:spcPts val="2622"/>
              </a:lnSpc>
              <a:spcBef>
                <a:spcPct val="0"/>
              </a:spcBef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G2</a:t>
            </a:r>
          </a:p>
        </p:txBody>
      </p:sp>
      <p:grpSp>
        <p:nvGrpSpPr>
          <p:cNvPr name="Group 27" id="27"/>
          <p:cNvGrpSpPr/>
          <p:nvPr/>
        </p:nvGrpSpPr>
        <p:grpSpPr>
          <a:xfrm rot="10728672">
            <a:off x="6481658" y="4797919"/>
            <a:ext cx="1675913" cy="167591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36609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833905" y="3352790"/>
            <a:ext cx="3245048" cy="46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b="true" sz="27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Attributes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60550" y="3967464"/>
            <a:ext cx="3431977" cy="478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b="true" sz="2272">
                <a:solidFill>
                  <a:srgbClr val="172C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Sex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age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172C51"/>
                </a:solidFill>
                <a:latin typeface="Canva Sans"/>
                <a:ea typeface="Canva Sans"/>
                <a:cs typeface="Canva Sans"/>
                <a:sym typeface="Canva Sans"/>
              </a:rPr>
              <a:t>address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famsize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Pstatus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b="true" sz="2272">
                <a:solidFill>
                  <a:srgbClr val="172C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Medu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b="true" sz="2272">
                <a:solidFill>
                  <a:srgbClr val="172C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Fedu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failures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sz="2272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absences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b="true" sz="2272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G1 (1</a:t>
            </a:r>
            <a:r>
              <a:rPr lang="en-US" b="true" sz="2272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2272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period Grade)</a:t>
            </a:r>
          </a:p>
          <a:p>
            <a:pPr algn="just" marL="490740" indent="-245370" lvl="1">
              <a:lnSpc>
                <a:spcPts val="3182"/>
              </a:lnSpc>
              <a:buFont typeface="Arial"/>
              <a:buChar char="•"/>
            </a:pPr>
            <a:r>
              <a:rPr lang="en-US" b="true" sz="2272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G2 (2</a:t>
            </a:r>
            <a:r>
              <a:rPr lang="en-US" b="true" sz="2272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</a:t>
            </a:r>
            <a:r>
              <a:rPr lang="en-US" b="true" sz="2272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Period Grade)</a:t>
            </a:r>
          </a:p>
        </p:txBody>
      </p:sp>
      <p:grpSp>
        <p:nvGrpSpPr>
          <p:cNvPr name="Group 32" id="32"/>
          <p:cNvGrpSpPr/>
          <p:nvPr/>
        </p:nvGrpSpPr>
        <p:grpSpPr>
          <a:xfrm rot="10728672">
            <a:off x="12553796" y="4683879"/>
            <a:ext cx="1675913" cy="167591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36609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0160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624580" y="4671009"/>
            <a:ext cx="3218379" cy="5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2"/>
              </a:lnSpc>
              <a:spcBef>
                <a:spcPct val="0"/>
              </a:spcBef>
            </a:pPr>
            <a:r>
              <a:rPr lang="en-US" b="true" sz="29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Attributes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477538" y="5380579"/>
            <a:ext cx="3365421" cy="46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8687" indent="-299343" lvl="1">
              <a:lnSpc>
                <a:spcPts val="3882"/>
              </a:lnSpc>
              <a:buFont typeface="Arial"/>
              <a:buChar char="•"/>
            </a:pPr>
            <a:r>
              <a:rPr lang="en-US" b="true" sz="2772">
                <a:solidFill>
                  <a:srgbClr val="01A0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G3 (Final Grade)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84959" y="1342501"/>
            <a:ext cx="8518081" cy="2114429"/>
            <a:chOff x="0" y="0"/>
            <a:chExt cx="11357441" cy="28192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57441" cy="2819239"/>
            </a:xfrm>
            <a:custGeom>
              <a:avLst/>
              <a:gdLst/>
              <a:ahLst/>
              <a:cxnLst/>
              <a:rect r="r" b="b" t="t" l="l"/>
              <a:pathLst>
                <a:path h="2819239" w="11357441">
                  <a:moveTo>
                    <a:pt x="0" y="0"/>
                  </a:moveTo>
                  <a:lnTo>
                    <a:pt x="11357441" y="0"/>
                  </a:lnTo>
                  <a:lnTo>
                    <a:pt x="11357441" y="2819239"/>
                  </a:lnTo>
                  <a:lnTo>
                    <a:pt x="0" y="2819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2135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>
              <a:off x="1984300" y="1409620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4094226" y="1394438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6265149" y="1379257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8436071" y="1364076"/>
              <a:ext cx="672215" cy="0"/>
            </a:xfrm>
            <a:prstGeom prst="line">
              <a:avLst/>
            </a:prstGeom>
            <a:ln cap="flat" w="3036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13330" y="3390255"/>
            <a:ext cx="6869311" cy="54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2"/>
              </a:lnSpc>
              <a:spcBef>
                <a:spcPct val="0"/>
              </a:spcBef>
            </a:pPr>
            <a:r>
              <a:rPr lang="en-US" b="true" sz="31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Imbalance Handling (SMOTE)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3094" y="4370997"/>
            <a:ext cx="9683591" cy="158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  <a:spcBef>
                <a:spcPct val="0"/>
              </a:spcBef>
            </a:pPr>
            <a:r>
              <a:rPr lang="en-US" b="true" sz="22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22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oblem: Imbalanced Classes</a:t>
            </a:r>
          </a:p>
          <a:p>
            <a:pPr algn="l" marL="490740" indent="-245370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ataset contains significantly more “Pass” cases than “Fail” cases</a:t>
            </a:r>
          </a:p>
          <a:p>
            <a:pPr algn="l" marL="490740" indent="-245370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imbalance biases models toward predicting the majority class</a:t>
            </a:r>
          </a:p>
          <a:p>
            <a:pPr algn="l">
              <a:lnSpc>
                <a:spcPts val="3182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13094" y="6187643"/>
            <a:ext cx="8928259" cy="1980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  <a:spcBef>
                <a:spcPct val="0"/>
              </a:spcBef>
            </a:pPr>
            <a:r>
              <a:rPr lang="en-US" b="true" sz="22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2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olution: SMOTE (Synthetic Minority Over-sampling Technique)</a:t>
            </a:r>
          </a:p>
          <a:p>
            <a:pPr algn="l" marL="490740" indent="-245370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</a:t>
            </a:r>
            <a:r>
              <a:rPr lang="en-US" sz="2272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synthetic samples</a:t>
            </a: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the minority class</a:t>
            </a:r>
          </a:p>
          <a:p>
            <a:pPr algn="l" marL="490740" indent="-245370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Creates new </a:t>
            </a:r>
            <a:r>
              <a:rPr lang="en-US" sz="2272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data points</a:t>
            </a: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490740" indent="-245370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sz="2272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Prevents overfitting</a:t>
            </a: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182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946042" y="3871637"/>
            <a:ext cx="5751408" cy="320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8"/>
              </a:lnSpc>
            </a:pPr>
            <a:r>
              <a:rPr lang="en-US" sz="3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</a:t>
            </a:r>
            <a:r>
              <a:rPr lang="en-US" sz="3306" b="true">
                <a:solidFill>
                  <a:srgbClr val="172C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</a:t>
            </a:r>
          </a:p>
          <a:p>
            <a:pPr algn="l" marL="540629" indent="-270314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4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</a:t>
            </a:r>
            <a:r>
              <a:rPr lang="en-US" b="true" sz="2504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504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oved recall and F1-score</a:t>
            </a:r>
            <a:r>
              <a:rPr lang="en-US" b="true" sz="25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 at-risk students</a:t>
            </a:r>
          </a:p>
          <a:p>
            <a:pPr algn="l" marL="540629" indent="-270314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4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bias</a:t>
            </a:r>
            <a:r>
              <a:rPr lang="en-US" b="true" sz="25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toward majority class</a:t>
            </a:r>
          </a:p>
          <a:p>
            <a:pPr algn="l" marL="540629" indent="-270314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4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</a:t>
            </a:r>
            <a:r>
              <a:rPr lang="en-US" b="true" sz="2504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liable and ethical</a:t>
            </a:r>
            <a:r>
              <a:rPr lang="en-US" b="true" sz="25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predictions</a:t>
            </a:r>
          </a:p>
          <a:p>
            <a:pPr algn="l">
              <a:lnSpc>
                <a:spcPts val="35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644890" y="1428558"/>
            <a:ext cx="7367960" cy="3028338"/>
            <a:chOff x="0" y="0"/>
            <a:chExt cx="9823947" cy="40377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23947" cy="4037783"/>
            </a:xfrm>
            <a:custGeom>
              <a:avLst/>
              <a:gdLst/>
              <a:ahLst/>
              <a:cxnLst/>
              <a:rect r="r" b="b" t="t" l="l"/>
              <a:pathLst>
                <a:path h="4037783" w="9823947">
                  <a:moveTo>
                    <a:pt x="0" y="0"/>
                  </a:moveTo>
                  <a:lnTo>
                    <a:pt x="9823947" y="0"/>
                  </a:lnTo>
                  <a:lnTo>
                    <a:pt x="9823947" y="4037783"/>
                  </a:lnTo>
                  <a:lnTo>
                    <a:pt x="0" y="4037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4" t="0" r="-354" b="-16049"/>
              </a:stretch>
            </a:blipFill>
          </p:spPr>
        </p:sp>
        <p:sp>
          <p:nvSpPr>
            <p:cNvPr name="AutoShape 19" id="19"/>
            <p:cNvSpPr/>
            <p:nvPr/>
          </p:nvSpPr>
          <p:spPr>
            <a:xfrm>
              <a:off x="2016813" y="2200862"/>
              <a:ext cx="1231814" cy="0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0" id="20"/>
            <p:cNvSpPr/>
            <p:nvPr/>
          </p:nvSpPr>
          <p:spPr>
            <a:xfrm flipV="true">
              <a:off x="1929701" y="1101785"/>
              <a:ext cx="1225781" cy="555421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2016813" y="2665463"/>
              <a:ext cx="1135654" cy="566312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4788305" y="2207638"/>
              <a:ext cx="643720" cy="13553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4819135" y="937941"/>
              <a:ext cx="612891" cy="719266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4" id="24"/>
            <p:cNvSpPr/>
            <p:nvPr/>
          </p:nvSpPr>
          <p:spPr>
            <a:xfrm flipV="true">
              <a:off x="4826479" y="2818174"/>
              <a:ext cx="605547" cy="533155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7020143" y="2183857"/>
              <a:ext cx="621600" cy="0"/>
            </a:xfrm>
            <a:prstGeom prst="line">
              <a:avLst/>
            </a:prstGeom>
            <a:ln cap="flat" w="27105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834238" y="4959752"/>
            <a:ext cx="7430615" cy="3433741"/>
          </a:xfrm>
          <a:custGeom>
            <a:avLst/>
            <a:gdLst/>
            <a:ahLst/>
            <a:cxnLst/>
            <a:rect r="r" b="b" t="t" l="l"/>
            <a:pathLst>
              <a:path h="3433741" w="7430615">
                <a:moveTo>
                  <a:pt x="0" y="0"/>
                </a:moveTo>
                <a:lnTo>
                  <a:pt x="7430615" y="0"/>
                </a:lnTo>
                <a:lnTo>
                  <a:pt x="7430615" y="3433741"/>
                </a:lnTo>
                <a:lnTo>
                  <a:pt x="0" y="3433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98506" y="4959752"/>
            <a:ext cx="7063695" cy="3433741"/>
          </a:xfrm>
          <a:custGeom>
            <a:avLst/>
            <a:gdLst/>
            <a:ahLst/>
            <a:cxnLst/>
            <a:rect r="r" b="b" t="t" l="l"/>
            <a:pathLst>
              <a:path h="3433741" w="7063695">
                <a:moveTo>
                  <a:pt x="0" y="0"/>
                </a:moveTo>
                <a:lnTo>
                  <a:pt x="7063695" y="0"/>
                </a:lnTo>
                <a:lnTo>
                  <a:pt x="7063695" y="3433741"/>
                </a:lnTo>
                <a:lnTo>
                  <a:pt x="0" y="3433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4238" y="3965723"/>
            <a:ext cx="50414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Previous Tuning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04200" y="3965723"/>
            <a:ext cx="49580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Test Tuning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158920" y="2430442"/>
            <a:ext cx="12671984" cy="5035591"/>
            <a:chOff x="0" y="0"/>
            <a:chExt cx="16895979" cy="67141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5979" cy="6714122"/>
            </a:xfrm>
            <a:custGeom>
              <a:avLst/>
              <a:gdLst/>
              <a:ahLst/>
              <a:cxnLst/>
              <a:rect r="r" b="b" t="t" l="l"/>
              <a:pathLst>
                <a:path h="6714122" w="16895979">
                  <a:moveTo>
                    <a:pt x="0" y="0"/>
                  </a:moveTo>
                  <a:lnTo>
                    <a:pt x="16895979" y="0"/>
                  </a:lnTo>
                  <a:lnTo>
                    <a:pt x="16895979" y="6714122"/>
                  </a:lnTo>
                  <a:lnTo>
                    <a:pt x="0" y="671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5824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4794957" y="2111270"/>
              <a:ext cx="1442073" cy="50600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4794957" y="4449135"/>
              <a:ext cx="1270376" cy="69437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10154670" y="2087303"/>
              <a:ext cx="1278786" cy="94316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10319283" y="4249723"/>
              <a:ext cx="1114173" cy="91422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02321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839896" y="874823"/>
            <a:ext cx="5904067" cy="3626213"/>
            <a:chOff x="0" y="0"/>
            <a:chExt cx="7872089" cy="4834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72089" cy="4834951"/>
            </a:xfrm>
            <a:custGeom>
              <a:avLst/>
              <a:gdLst/>
              <a:ahLst/>
              <a:cxnLst/>
              <a:rect r="r" b="b" t="t" l="l"/>
              <a:pathLst>
                <a:path h="4834951" w="7872089">
                  <a:moveTo>
                    <a:pt x="0" y="0"/>
                  </a:moveTo>
                  <a:lnTo>
                    <a:pt x="7872089" y="0"/>
                  </a:lnTo>
                  <a:lnTo>
                    <a:pt x="7872089" y="4834951"/>
                  </a:lnTo>
                  <a:lnTo>
                    <a:pt x="0" y="4834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2478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>
              <a:off x="3090016" y="2602016"/>
              <a:ext cx="1289187" cy="0"/>
            </a:xfrm>
            <a:prstGeom prst="line">
              <a:avLst/>
            </a:prstGeom>
            <a:ln cap="flat" w="3600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13330" y="1821790"/>
            <a:ext cx="5051941" cy="86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in The Loop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067050"/>
            <a:ext cx="8467578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Human-in-the-Loop validation integrates expert </a:t>
            </a:r>
            <a:r>
              <a:rPr lang="en-US" sz="34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judgment</a:t>
            </a:r>
            <a:r>
              <a:rPr lang="en-U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model evaluation and decision-making to improve reliability, trust, and accountability.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2132" y="5739506"/>
            <a:ext cx="569833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42021" indent="-421011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Predictions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2132" y="6954636"/>
            <a:ext cx="843414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42021" indent="-421011" lvl="1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Confidence using the Prediction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85679" y="5434706"/>
            <a:ext cx="306990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class=1(P&gt;0.5)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7013837" y="5768081"/>
            <a:ext cx="5171842" cy="2952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11386179" y="6621315"/>
            <a:ext cx="635778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Confidence=P(pass∣x)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9497705" y="6983211"/>
            <a:ext cx="2504512" cy="2762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02321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39896" y="874823"/>
            <a:ext cx="5904067" cy="3626213"/>
            <a:chOff x="0" y="0"/>
            <a:chExt cx="7872089" cy="48349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2089" cy="4834951"/>
            </a:xfrm>
            <a:custGeom>
              <a:avLst/>
              <a:gdLst/>
              <a:ahLst/>
              <a:cxnLst/>
              <a:rect r="r" b="b" t="t" l="l"/>
              <a:pathLst>
                <a:path h="4834951" w="7872089">
                  <a:moveTo>
                    <a:pt x="0" y="0"/>
                  </a:moveTo>
                  <a:lnTo>
                    <a:pt x="7872089" y="0"/>
                  </a:lnTo>
                  <a:lnTo>
                    <a:pt x="7872089" y="4834951"/>
                  </a:lnTo>
                  <a:lnTo>
                    <a:pt x="0" y="4834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2478"/>
              </a:stretch>
            </a:blipFill>
          </p:spPr>
        </p:sp>
        <p:sp>
          <p:nvSpPr>
            <p:cNvPr name="AutoShape 19" id="19"/>
            <p:cNvSpPr/>
            <p:nvPr/>
          </p:nvSpPr>
          <p:spPr>
            <a:xfrm>
              <a:off x="3090016" y="2602016"/>
              <a:ext cx="1289187" cy="0"/>
            </a:xfrm>
            <a:prstGeom prst="line">
              <a:avLst/>
            </a:prstGeom>
            <a:ln cap="flat" w="3600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2041271" y="4720219"/>
            <a:ext cx="5218029" cy="1620506"/>
          </a:xfrm>
          <a:custGeom>
            <a:avLst/>
            <a:gdLst/>
            <a:ahLst/>
            <a:cxnLst/>
            <a:rect r="r" b="b" t="t" l="l"/>
            <a:pathLst>
              <a:path h="1620506" w="5218029">
                <a:moveTo>
                  <a:pt x="0" y="0"/>
                </a:moveTo>
                <a:lnTo>
                  <a:pt x="5218029" y="0"/>
                </a:lnTo>
                <a:lnTo>
                  <a:pt x="5218029" y="1620506"/>
                </a:lnTo>
                <a:lnTo>
                  <a:pt x="0" y="1620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4696" y="1821790"/>
            <a:ext cx="6573203" cy="86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in The Loop Cont.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4238" y="2868905"/>
            <a:ext cx="941391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does not compute probability itself.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explains why the model produced that probability.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0433" y="4701169"/>
            <a:ext cx="9906642" cy="90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600" indent="-316300" lvl="1">
              <a:lnSpc>
                <a:spcPts val="3516"/>
              </a:lnSpc>
              <a:buFont typeface="Arial"/>
              <a:buChar char="•"/>
            </a:pPr>
            <a:r>
              <a:rPr lang="en-US" sz="29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ϕ0​ = baseline prediction (average output across training data)</a:t>
            </a:r>
          </a:p>
          <a:p>
            <a:pPr algn="l" marL="632600" indent="-316300" lvl="1">
              <a:lnSpc>
                <a:spcPts val="3516"/>
              </a:lnSpc>
              <a:buFont typeface="Arial"/>
              <a:buChar char="•"/>
            </a:pPr>
            <a:r>
              <a:rPr lang="en-US" sz="29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ϕj = contribution of feature j to this prediction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11917" y="6540750"/>
            <a:ext cx="465855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| sum of ϕj ​| 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2853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influence 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prediction is stable/confident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153" y="6540750"/>
            <a:ext cx="3783092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sum of ϕj ​| 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2853">
                <a:solidFill>
                  <a:srgbClr val="66A8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influence 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prediction is uncertain 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human review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230041" y="361950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3330" y="1737225"/>
            <a:ext cx="12423891" cy="960839"/>
            <a:chOff x="0" y="0"/>
            <a:chExt cx="24430408" cy="1889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30408" cy="1889396"/>
            </a:xfrm>
            <a:custGeom>
              <a:avLst/>
              <a:gdLst/>
              <a:ahLst/>
              <a:cxnLst/>
              <a:rect r="r" b="b" t="t" l="l"/>
              <a:pathLst>
                <a:path h="1889396" w="24430408">
                  <a:moveTo>
                    <a:pt x="0" y="0"/>
                  </a:moveTo>
                  <a:lnTo>
                    <a:pt x="24430408" y="0"/>
                  </a:lnTo>
                  <a:lnTo>
                    <a:pt x="24430408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430408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20"/>
                </a:lnSpc>
              </a:pPr>
              <a:r>
                <a:rPr lang="en-US" sz="4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 for Logistic Regression (Linear model)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375173" y="2736032"/>
            <a:ext cx="7370035" cy="6012397"/>
          </a:xfrm>
          <a:custGeom>
            <a:avLst/>
            <a:gdLst/>
            <a:ahLst/>
            <a:cxnLst/>
            <a:rect r="r" b="b" t="t" l="l"/>
            <a:pathLst>
              <a:path h="6012397" w="7370035">
                <a:moveTo>
                  <a:pt x="0" y="0"/>
                </a:moveTo>
                <a:lnTo>
                  <a:pt x="7370036" y="0"/>
                </a:lnTo>
                <a:lnTo>
                  <a:pt x="7370036" y="6012398"/>
                </a:lnTo>
                <a:lnTo>
                  <a:pt x="0" y="6012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8840" y="3171684"/>
            <a:ext cx="6909380" cy="457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values quantify </a:t>
            </a:r>
            <a:r>
              <a:rPr lang="en-US" sz="2589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contributions </a:t>
            </a: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features to pass/fail prediction.</a:t>
            </a: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G2 and G1 are the most </a:t>
            </a:r>
            <a:r>
              <a:rPr lang="en-US" sz="2589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influential predictors</a:t>
            </a: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confirming academic relevance.</a:t>
            </a: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Socio-demographic features show minimal impact, supporting fairness.</a:t>
            </a: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narrow SHAP distribution reflects the </a:t>
            </a:r>
            <a:r>
              <a:rPr lang="en-US" sz="2589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nature</a:t>
            </a: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Logistic Regression.</a:t>
            </a: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model serves as a transparent baseline for comparison with complex learners.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 Cont.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494912" y="2087103"/>
            <a:ext cx="8101627" cy="6609222"/>
          </a:xfrm>
          <a:custGeom>
            <a:avLst/>
            <a:gdLst/>
            <a:ahLst/>
            <a:cxnLst/>
            <a:rect r="r" b="b" t="t" l="l"/>
            <a:pathLst>
              <a:path h="6609222" w="8101627">
                <a:moveTo>
                  <a:pt x="0" y="0"/>
                </a:moveTo>
                <a:lnTo>
                  <a:pt x="8101628" y="0"/>
                </a:lnTo>
                <a:lnTo>
                  <a:pt x="8101628" y="6609222"/>
                </a:lnTo>
                <a:lnTo>
                  <a:pt x="0" y="6609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1461933"/>
            <a:ext cx="11571706" cy="960839"/>
            <a:chOff x="0" y="0"/>
            <a:chExt cx="22754666" cy="1889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54665" cy="1889396"/>
            </a:xfrm>
            <a:custGeom>
              <a:avLst/>
              <a:gdLst/>
              <a:ahLst/>
              <a:cxnLst/>
              <a:rect r="r" b="b" t="t" l="l"/>
              <a:pathLst>
                <a:path h="1889396" w="22754665">
                  <a:moveTo>
                    <a:pt x="0" y="0"/>
                  </a:moveTo>
                  <a:lnTo>
                    <a:pt x="22754665" y="0"/>
                  </a:lnTo>
                  <a:lnTo>
                    <a:pt x="2275466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754666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20"/>
                </a:lnSpc>
              </a:pPr>
              <a:r>
                <a:rPr lang="en-US" sz="4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SHAP-Based Explainability of XGBoost Model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8880" y="2794486"/>
            <a:ext cx="7333101" cy="477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SHAP summary pl</a:t>
            </a: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 illustrates the </a:t>
            </a:r>
            <a:r>
              <a:rPr lang="en-US" sz="2688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importance</a:t>
            </a: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directional influence of features.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performance indicators </a:t>
            </a:r>
            <a:r>
              <a:rPr lang="en-US" sz="2688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(G2, G1)</a:t>
            </a: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strongest contributors to student success.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factors such as absences </a:t>
            </a:r>
            <a:r>
              <a:rPr lang="en-US" sz="2688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negatively impact</a:t>
            </a: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predictions.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Socio-demographic attributes have limited influence, indicating reduced model bias.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explainability enhances trust, transparency, and ethical deployment.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 Cont.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494912" y="2087103"/>
            <a:ext cx="8101627" cy="6609222"/>
          </a:xfrm>
          <a:custGeom>
            <a:avLst/>
            <a:gdLst/>
            <a:ahLst/>
            <a:cxnLst/>
            <a:rect r="r" b="b" t="t" l="l"/>
            <a:pathLst>
              <a:path h="6609222" w="8101627">
                <a:moveTo>
                  <a:pt x="0" y="0"/>
                </a:moveTo>
                <a:lnTo>
                  <a:pt x="8101628" y="0"/>
                </a:lnTo>
                <a:lnTo>
                  <a:pt x="8101628" y="6609222"/>
                </a:lnTo>
                <a:lnTo>
                  <a:pt x="0" y="6609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1461933"/>
            <a:ext cx="11571706" cy="960839"/>
            <a:chOff x="0" y="0"/>
            <a:chExt cx="22754666" cy="1889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54665" cy="1889396"/>
            </a:xfrm>
            <a:custGeom>
              <a:avLst/>
              <a:gdLst/>
              <a:ahLst/>
              <a:cxnLst/>
              <a:rect r="r" b="b" t="t" l="l"/>
              <a:pathLst>
                <a:path h="1889396" w="22754665">
                  <a:moveTo>
                    <a:pt x="0" y="0"/>
                  </a:moveTo>
                  <a:lnTo>
                    <a:pt x="22754665" y="0"/>
                  </a:lnTo>
                  <a:lnTo>
                    <a:pt x="2275466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754666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20"/>
                </a:lnSpc>
              </a:pPr>
              <a:r>
                <a:rPr lang="en-US" sz="4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SHAP-Based Explainability of XGBoost Model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8880" y="2794486"/>
            <a:ext cx="7333101" cy="477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SHAP summary pl</a:t>
            </a: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 illustrates the global importance and directional influence of features.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performance indicators (G2, G1) are the strongest contributors to student success.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factors such as absences negatively impact predictions.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Socio-demographic attributes have limited influence, indicating reduced model bias.</a:t>
            </a:r>
          </a:p>
          <a:p>
            <a:pPr algn="just" marL="580407" indent="-290204" lvl="1">
              <a:lnSpc>
                <a:spcPts val="3763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explainability enhances trust, transparency, and ethical deployment.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53233" y="320175"/>
            <a:ext cx="6083359" cy="1417050"/>
            <a:chOff x="0" y="0"/>
            <a:chExt cx="8111145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1145" cy="1889396"/>
            </a:xfrm>
            <a:custGeom>
              <a:avLst/>
              <a:gdLst/>
              <a:ahLst/>
              <a:cxnLst/>
              <a:rect r="r" b="b" t="t" l="l"/>
              <a:pathLst>
                <a:path h="1889396" w="8111145">
                  <a:moveTo>
                    <a:pt x="0" y="0"/>
                  </a:moveTo>
                  <a:lnTo>
                    <a:pt x="8111145" y="0"/>
                  </a:lnTo>
                  <a:lnTo>
                    <a:pt x="8111145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1145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 Cont.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850894" y="1525029"/>
            <a:ext cx="12586212" cy="960839"/>
            <a:chOff x="0" y="0"/>
            <a:chExt cx="24749597" cy="1889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749596" cy="1889396"/>
            </a:xfrm>
            <a:custGeom>
              <a:avLst/>
              <a:gdLst/>
              <a:ahLst/>
              <a:cxnLst/>
              <a:rect r="r" b="b" t="t" l="l"/>
              <a:pathLst>
                <a:path h="1889396" w="24749596">
                  <a:moveTo>
                    <a:pt x="0" y="0"/>
                  </a:moveTo>
                  <a:lnTo>
                    <a:pt x="24749596" y="0"/>
                  </a:lnTo>
                  <a:lnTo>
                    <a:pt x="24749596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749597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20"/>
                </a:lnSpc>
              </a:pPr>
              <a:r>
                <a:rPr lang="en-US" sz="4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Human in the loop Validation using Shap confidence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679711" y="2643465"/>
            <a:ext cx="6692287" cy="5608774"/>
          </a:xfrm>
          <a:custGeom>
            <a:avLst/>
            <a:gdLst/>
            <a:ahLst/>
            <a:cxnLst/>
            <a:rect r="r" b="b" t="t" l="l"/>
            <a:pathLst>
              <a:path h="5608774" w="6692287">
                <a:moveTo>
                  <a:pt x="0" y="0"/>
                </a:moveTo>
                <a:lnTo>
                  <a:pt x="6692287" y="0"/>
                </a:lnTo>
                <a:lnTo>
                  <a:pt x="6692287" y="5608774"/>
                </a:lnTo>
                <a:lnTo>
                  <a:pt x="0" y="5608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771564" y="2753701"/>
            <a:ext cx="3600233" cy="5498538"/>
          </a:xfrm>
          <a:custGeom>
            <a:avLst/>
            <a:gdLst/>
            <a:ahLst/>
            <a:cxnLst/>
            <a:rect r="r" b="b" t="t" l="l"/>
            <a:pathLst>
              <a:path h="5498538" w="3600233">
                <a:moveTo>
                  <a:pt x="0" y="0"/>
                </a:moveTo>
                <a:lnTo>
                  <a:pt x="3600233" y="0"/>
                </a:lnTo>
                <a:lnTo>
                  <a:pt x="3600233" y="5498538"/>
                </a:lnTo>
                <a:lnTo>
                  <a:pt x="0" y="5498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057379" y="171450"/>
            <a:ext cx="8173242" cy="1417050"/>
            <a:chOff x="0" y="0"/>
            <a:chExt cx="10897656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97656" cy="1889396"/>
            </a:xfrm>
            <a:custGeom>
              <a:avLst/>
              <a:gdLst/>
              <a:ahLst/>
              <a:cxnLst/>
              <a:rect r="r" b="b" t="t" l="l"/>
              <a:pathLst>
                <a:path h="1889396" w="10897656">
                  <a:moveTo>
                    <a:pt x="0" y="0"/>
                  </a:moveTo>
                  <a:lnTo>
                    <a:pt x="10897656" y="0"/>
                  </a:lnTo>
                  <a:lnTo>
                    <a:pt x="10897656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897656" cy="192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Comparing Result using dataset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103904" y="1431581"/>
          <a:ext cx="12423592" cy="4114800"/>
        </p:xfrm>
        <a:graphic>
          <a:graphicData uri="http://schemas.openxmlformats.org/drawingml/2006/table">
            <a:tbl>
              <a:tblPr/>
              <a:tblGrid>
                <a:gridCol w="3361676"/>
                <a:gridCol w="2142892"/>
                <a:gridCol w="2194108"/>
                <a:gridCol w="1916148"/>
                <a:gridCol w="2808768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F1-Scrore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0.9245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0.9423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0.959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0.9215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0.7735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0.9631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5103904" y="5673553"/>
          <a:ext cx="12423592" cy="3095625"/>
        </p:xfrm>
        <a:graphic>
          <a:graphicData uri="http://schemas.openxmlformats.org/drawingml/2006/table">
            <a:tbl>
              <a:tblPr/>
              <a:tblGrid>
                <a:gridCol w="3361676"/>
                <a:gridCol w="2142892"/>
                <a:gridCol w="2194108"/>
                <a:gridCol w="1916148"/>
                <a:gridCol w="2808768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r>
                        <a:rPr lang="en-US" sz="2372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897" y="2238616"/>
            <a:ext cx="3065876" cy="158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3"/>
              </a:lnSpc>
            </a:pPr>
            <a:r>
              <a:rPr lang="en-US" sz="4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</a:p>
          <a:p>
            <a:pPr algn="ctr">
              <a:lnSpc>
                <a:spcPts val="6303"/>
              </a:lnSpc>
            </a:pPr>
            <a:r>
              <a:rPr lang="en-US" sz="4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Contribution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1524" y="6228791"/>
            <a:ext cx="4216622" cy="123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5"/>
              </a:lnSpc>
            </a:pPr>
            <a:r>
              <a:rPr lang="en-US" sz="3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Works form </a:t>
            </a:r>
          </a:p>
          <a:p>
            <a:pPr algn="ctr">
              <a:lnSpc>
                <a:spcPts val="4895"/>
              </a:lnSpc>
            </a:pPr>
            <a:r>
              <a:rPr lang="en-US" sz="3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K. Kesgin, S. Kiraz,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31470" y="2564091"/>
          <a:ext cx="8185056" cy="5471922"/>
        </p:xfrm>
        <a:graphic>
          <a:graphicData uri="http://schemas.openxmlformats.org/drawingml/2006/table">
            <a:tbl>
              <a:tblPr/>
              <a:tblGrid>
                <a:gridCol w="1656828"/>
                <a:gridCol w="1656828"/>
                <a:gridCol w="1656828"/>
                <a:gridCol w="1656828"/>
                <a:gridCol w="1557746"/>
              </a:tblGrid>
              <a:tr h="830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 Dataset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Test Dataset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F1-Score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3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Portuguese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0.8767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0.9257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3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Portuguese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0.9029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0.9408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0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Portuguese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0.8906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3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Portuguese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0.8861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0.9156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3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Portuguese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0.8684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0.9078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0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Portuguese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0.8759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0.9111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5" id="15"/>
          <p:cNvSpPr/>
          <p:nvPr/>
        </p:nvSpPr>
        <p:spPr>
          <a:xfrm flipH="false" flipV="false" rot="0">
            <a:off x="9582476" y="1456338"/>
            <a:ext cx="7792617" cy="3843713"/>
          </a:xfrm>
          <a:custGeom>
            <a:avLst/>
            <a:gdLst/>
            <a:ahLst/>
            <a:cxnLst/>
            <a:rect r="r" b="b" t="t" l="l"/>
            <a:pathLst>
              <a:path h="3843713" w="7792617">
                <a:moveTo>
                  <a:pt x="0" y="0"/>
                </a:moveTo>
                <a:lnTo>
                  <a:pt x="7792617" y="0"/>
                </a:lnTo>
                <a:lnTo>
                  <a:pt x="7792617" y="3843714"/>
                </a:lnTo>
                <a:lnTo>
                  <a:pt x="0" y="384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81" r="-1501" b="-368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331026" y="5461977"/>
            <a:ext cx="8592910" cy="3152399"/>
          </a:xfrm>
          <a:custGeom>
            <a:avLst/>
            <a:gdLst/>
            <a:ahLst/>
            <a:cxnLst/>
            <a:rect r="r" b="b" t="t" l="l"/>
            <a:pathLst>
              <a:path h="3152399" w="8592910">
                <a:moveTo>
                  <a:pt x="0" y="0"/>
                </a:moveTo>
                <a:lnTo>
                  <a:pt x="8592910" y="0"/>
                </a:lnTo>
                <a:lnTo>
                  <a:pt x="8592910" y="3152399"/>
                </a:lnTo>
                <a:lnTo>
                  <a:pt x="0" y="315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04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35376" y="494313"/>
            <a:ext cx="1011376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 of cross-course generalization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81298"/>
            <a:chOff x="0" y="0"/>
            <a:chExt cx="19735800" cy="908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8387"/>
              <a:ext cx="19685000" cy="851622"/>
            </a:xfrm>
            <a:custGeom>
              <a:avLst/>
              <a:gdLst/>
              <a:ahLst/>
              <a:cxnLst/>
              <a:rect r="r" b="b" t="t" l="l"/>
              <a:pathLst>
                <a:path h="851622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851623"/>
                  </a:lnTo>
                  <a:lnTo>
                    <a:pt x="0" y="851623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908397"/>
            </a:xfrm>
            <a:custGeom>
              <a:avLst/>
              <a:gdLst/>
              <a:ahLst/>
              <a:cxnLst/>
              <a:rect r="r" b="b" t="t" l="l"/>
              <a:pathLst>
                <a:path h="908397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2774"/>
                    <a:pt x="19735800" y="28387"/>
                  </a:cubicBezTo>
                  <a:lnTo>
                    <a:pt x="19735800" y="880010"/>
                  </a:lnTo>
                  <a:cubicBezTo>
                    <a:pt x="19735800" y="895623"/>
                    <a:pt x="19724370" y="908397"/>
                    <a:pt x="19710400" y="908397"/>
                  </a:cubicBezTo>
                  <a:lnTo>
                    <a:pt x="25400" y="908397"/>
                  </a:lnTo>
                  <a:cubicBezTo>
                    <a:pt x="11430" y="908397"/>
                    <a:pt x="0" y="895623"/>
                    <a:pt x="0" y="880010"/>
                  </a:cubicBezTo>
                  <a:lnTo>
                    <a:pt x="0" y="28387"/>
                  </a:lnTo>
                  <a:cubicBezTo>
                    <a:pt x="0" y="12774"/>
                    <a:pt x="11430" y="0"/>
                    <a:pt x="25400" y="0"/>
                  </a:cubicBezTo>
                  <a:moveTo>
                    <a:pt x="25400" y="56775"/>
                  </a:moveTo>
                  <a:lnTo>
                    <a:pt x="25400" y="28387"/>
                  </a:lnTo>
                  <a:lnTo>
                    <a:pt x="50800" y="28387"/>
                  </a:lnTo>
                  <a:lnTo>
                    <a:pt x="50800" y="880010"/>
                  </a:lnTo>
                  <a:lnTo>
                    <a:pt x="25400" y="880010"/>
                  </a:lnTo>
                  <a:lnTo>
                    <a:pt x="25400" y="851622"/>
                  </a:lnTo>
                  <a:lnTo>
                    <a:pt x="19710400" y="851622"/>
                  </a:lnTo>
                  <a:lnTo>
                    <a:pt x="19710400" y="880010"/>
                  </a:lnTo>
                  <a:lnTo>
                    <a:pt x="19685000" y="880010"/>
                  </a:lnTo>
                  <a:lnTo>
                    <a:pt x="19685000" y="28387"/>
                  </a:lnTo>
                  <a:lnTo>
                    <a:pt x="19710400" y="28387"/>
                  </a:lnTo>
                  <a:lnTo>
                    <a:pt x="19710400" y="56775"/>
                  </a:lnTo>
                  <a:lnTo>
                    <a:pt x="25400" y="56775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975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71800" y="411956"/>
            <a:ext cx="12344400" cy="1834284"/>
            <a:chOff x="0" y="0"/>
            <a:chExt cx="16459200" cy="24457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2445706"/>
            </a:xfrm>
            <a:custGeom>
              <a:avLst/>
              <a:gdLst/>
              <a:ahLst/>
              <a:cxnLst/>
              <a:rect r="r" b="b" t="t" l="l"/>
              <a:pathLst>
                <a:path h="244570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2445706"/>
                  </a:lnTo>
                  <a:lnTo>
                    <a:pt x="0" y="24457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459200" cy="2474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Evaluation of trustworthiness of SHAP explanation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008872" y="3068248"/>
            <a:ext cx="10607036" cy="3121803"/>
          </a:xfrm>
          <a:custGeom>
            <a:avLst/>
            <a:gdLst/>
            <a:ahLst/>
            <a:cxnLst/>
            <a:rect r="r" b="b" t="t" l="l"/>
            <a:pathLst>
              <a:path h="3121803" w="10607036">
                <a:moveTo>
                  <a:pt x="0" y="0"/>
                </a:moveTo>
                <a:lnTo>
                  <a:pt x="10607036" y="0"/>
                </a:lnTo>
                <a:lnTo>
                  <a:pt x="10607036" y="3121804"/>
                </a:lnTo>
                <a:lnTo>
                  <a:pt x="0" y="3121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218509" y="1531871"/>
            <a:ext cx="12344400" cy="1417050"/>
            <a:chOff x="0" y="0"/>
            <a:chExt cx="16459200" cy="188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459200" cy="1917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20"/>
                </a:lnSpc>
              </a:pPr>
              <a:r>
                <a:rPr lang="en-US" sz="6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works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25481" y="3530921"/>
            <a:ext cx="12930456" cy="459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5886" indent="-402943" lvl="1">
              <a:lnSpc>
                <a:spcPts val="6084"/>
              </a:lnSpc>
              <a:buAutoNum type="arabicPeriod" startAt="1"/>
            </a:pPr>
            <a:r>
              <a:rPr lang="en-US" sz="3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early-warning ML system to identify at-risk students before final exams.</a:t>
            </a:r>
          </a:p>
          <a:p>
            <a:pPr algn="just" marL="805886" indent="-402943" lvl="1">
              <a:lnSpc>
                <a:spcPts val="6084"/>
              </a:lnSpc>
              <a:buAutoNum type="arabicPeriod" startAt="1"/>
            </a:pPr>
            <a:r>
              <a:rPr lang="en-US" sz="3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actionable counterfactuals that suggest minimal changes for academic success.</a:t>
            </a:r>
          </a:p>
          <a:p>
            <a:pPr algn="just" marL="805886" indent="-402943" lvl="1">
              <a:lnSpc>
                <a:spcPts val="6084"/>
              </a:lnSpc>
              <a:buAutoNum type="arabicPeriod" startAt="1"/>
            </a:pPr>
            <a:r>
              <a:rPr lang="en-US" sz="3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Premutation importance.</a:t>
            </a:r>
          </a:p>
          <a:p>
            <a:pPr algn="just" marL="805886" indent="-402943" lvl="1">
              <a:lnSpc>
                <a:spcPts val="6084"/>
              </a:lnSpc>
              <a:buAutoNum type="arabicPeriod" startAt="1"/>
            </a:pPr>
            <a:r>
              <a:rPr lang="en-US" sz="37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ready explainable System.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81298"/>
            <a:chOff x="0" y="0"/>
            <a:chExt cx="19735800" cy="908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8387"/>
              <a:ext cx="19685000" cy="851622"/>
            </a:xfrm>
            <a:custGeom>
              <a:avLst/>
              <a:gdLst/>
              <a:ahLst/>
              <a:cxnLst/>
              <a:rect r="r" b="b" t="t" l="l"/>
              <a:pathLst>
                <a:path h="851622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851623"/>
                  </a:lnTo>
                  <a:lnTo>
                    <a:pt x="0" y="851623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908397"/>
            </a:xfrm>
            <a:custGeom>
              <a:avLst/>
              <a:gdLst/>
              <a:ahLst/>
              <a:cxnLst/>
              <a:rect r="r" b="b" t="t" l="l"/>
              <a:pathLst>
                <a:path h="908397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2774"/>
                    <a:pt x="19735800" y="28387"/>
                  </a:cubicBezTo>
                  <a:lnTo>
                    <a:pt x="19735800" y="880010"/>
                  </a:lnTo>
                  <a:cubicBezTo>
                    <a:pt x="19735800" y="895623"/>
                    <a:pt x="19724370" y="908397"/>
                    <a:pt x="19710400" y="908397"/>
                  </a:cubicBezTo>
                  <a:lnTo>
                    <a:pt x="25400" y="908397"/>
                  </a:lnTo>
                  <a:cubicBezTo>
                    <a:pt x="11430" y="908397"/>
                    <a:pt x="0" y="895623"/>
                    <a:pt x="0" y="880010"/>
                  </a:cubicBezTo>
                  <a:lnTo>
                    <a:pt x="0" y="28387"/>
                  </a:lnTo>
                  <a:cubicBezTo>
                    <a:pt x="0" y="12774"/>
                    <a:pt x="11430" y="0"/>
                    <a:pt x="25400" y="0"/>
                  </a:cubicBezTo>
                  <a:moveTo>
                    <a:pt x="25400" y="56775"/>
                  </a:moveTo>
                  <a:lnTo>
                    <a:pt x="25400" y="28387"/>
                  </a:lnTo>
                  <a:lnTo>
                    <a:pt x="50800" y="28387"/>
                  </a:lnTo>
                  <a:lnTo>
                    <a:pt x="50800" y="880010"/>
                  </a:lnTo>
                  <a:lnTo>
                    <a:pt x="25400" y="880010"/>
                  </a:lnTo>
                  <a:lnTo>
                    <a:pt x="25400" y="851622"/>
                  </a:lnTo>
                  <a:lnTo>
                    <a:pt x="19710400" y="851622"/>
                  </a:lnTo>
                  <a:lnTo>
                    <a:pt x="19710400" y="880010"/>
                  </a:lnTo>
                  <a:lnTo>
                    <a:pt x="19685000" y="880010"/>
                  </a:lnTo>
                  <a:lnTo>
                    <a:pt x="19685000" y="28387"/>
                  </a:lnTo>
                  <a:lnTo>
                    <a:pt x="19710400" y="28387"/>
                  </a:lnTo>
                  <a:lnTo>
                    <a:pt x="19710400" y="56775"/>
                  </a:lnTo>
                  <a:lnTo>
                    <a:pt x="25400" y="56775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975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427108"/>
            <a:ext cx="16459200" cy="1416844"/>
            <a:chOff x="0" y="0"/>
            <a:chExt cx="21945600" cy="1889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889124"/>
            </a:xfrm>
            <a:custGeom>
              <a:avLst/>
              <a:gdLst/>
              <a:ahLst/>
              <a:cxnLst/>
              <a:rect r="r" b="b" t="t" l="l"/>
              <a:pathLst>
                <a:path h="18891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89124"/>
                  </a:lnTo>
                  <a:lnTo>
                    <a:pt x="0" y="18891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192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10435" y="3524885"/>
            <a:ext cx="13761661" cy="308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82"/>
              </a:lnSpc>
            </a:pP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baseline ML models and SHAP explanations.</a:t>
            </a:r>
          </a:p>
          <a:p>
            <a:pPr algn="just">
              <a:lnSpc>
                <a:spcPts val="6082"/>
              </a:lnSpc>
            </a:pP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experiments for early-warning and generalization.</a:t>
            </a:r>
          </a:p>
          <a:p>
            <a:pPr algn="just">
              <a:lnSpc>
                <a:spcPts val="6082"/>
              </a:lnSpc>
            </a:pP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is progressing toward a trustworthy and actionable AI system.</a:t>
            </a:r>
          </a:p>
          <a:p>
            <a:pPr algn="just">
              <a:lnSpc>
                <a:spcPts val="6236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33872" y="2533888"/>
            <a:ext cx="15659998" cy="566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3100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[1] K. Kesgin, S. Kiraz, S. Kosunalp, and B. Stoycheva, “Beyond Performance: Explaining and Ensuring Fairness in Student Academic Performance Prediction with Machine Learning,” Appl. Sci., vol. 15, no. 15, art. no. 8409, 2025, doi: 10.3390/app15158409</a:t>
            </a:r>
          </a:p>
          <a:p>
            <a:pPr algn="just">
              <a:lnSpc>
                <a:spcPts val="3720"/>
              </a:lnSpc>
            </a:pPr>
          </a:p>
          <a:p>
            <a:pPr algn="just">
              <a:lnSpc>
                <a:spcPts val="3720"/>
              </a:lnSpc>
            </a:pPr>
            <a:r>
              <a:rPr lang="en-US" sz="3100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[2] P. Cortez and A. M. G. Silva, “Using data mining to predict secondary school student performance,” in Proc. EUROSIS Conf., 2008, pp. 5–12. [Online]. Available: </a:t>
            </a:r>
            <a:r>
              <a:rPr lang="en-US" sz="3100" u="sng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  <a:hlinkClick r:id="rId2" tooltip="https://archive.ics.uci.edu/ml/datasets/Student+Performance"/>
              </a:rPr>
              <a:t>https://archive.ics.uci.edu/ml/datasets/Student+Performance</a:t>
            </a:r>
            <a:r>
              <a:rPr lang="en-US" sz="3100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. Accessed: Jul. 11, 2025</a:t>
            </a:r>
          </a:p>
          <a:p>
            <a:pPr algn="just">
              <a:lnSpc>
                <a:spcPts val="3720"/>
              </a:lnSpc>
            </a:pPr>
          </a:p>
          <a:p>
            <a:pPr algn="just">
              <a:lnSpc>
                <a:spcPts val="3720"/>
              </a:lnSpc>
            </a:pPr>
            <a:r>
              <a:rPr lang="en-US" sz="3100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[3] B. Albreiki, M. Zohdy, and H. Lutfiyya, “A comparison of machine learning algorithms for predicting student academic performance in higher education,” Int. J. Emerg. Technol. Learn., vol. 16, pp. 76–90, 2021.</a:t>
            </a:r>
          </a:p>
          <a:p>
            <a:pPr algn="just">
              <a:lnSpc>
                <a:spcPts val="37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348163" y="335958"/>
            <a:ext cx="18754316" cy="1046140"/>
            <a:chOff x="0" y="0"/>
            <a:chExt cx="25005755" cy="13948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005805" cy="1394841"/>
            </a:xfrm>
            <a:custGeom>
              <a:avLst/>
              <a:gdLst/>
              <a:ahLst/>
              <a:cxnLst/>
              <a:rect r="r" b="b" t="t" l="l"/>
              <a:pathLst>
                <a:path h="1394841" w="25005805">
                  <a:moveTo>
                    <a:pt x="0" y="0"/>
                  </a:moveTo>
                  <a:lnTo>
                    <a:pt x="25005805" y="0"/>
                  </a:lnTo>
                  <a:lnTo>
                    <a:pt x="25005805" y="1394841"/>
                  </a:lnTo>
                  <a:lnTo>
                    <a:pt x="0" y="1394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58" r="0" b="-3687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971800" y="231611"/>
            <a:ext cx="12344400" cy="1417050"/>
            <a:chOff x="0" y="0"/>
            <a:chExt cx="16459200" cy="1889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42875"/>
              <a:ext cx="16459200" cy="203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46235" y="2337361"/>
            <a:ext cx="15571564" cy="618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6"/>
              </a:lnSpc>
            </a:pPr>
            <a:r>
              <a:rPr lang="en-US" sz="2896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[4] F. T. Johora, M. N. Hasan, and A. Rajbongshi, “An explainable AI-based approach for predicting undergraduate students’ academic performance,” Array, vol. 26, Art. no. 100384, 2025.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  <a:r>
              <a:rPr lang="en-US" sz="2896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[5] I. E. Livieris, K. Drakopoulou, T. A. Mikropoulos, V. Tampakas, and P. Pintelas, “An ensemble-based semi-supervised approach for predicting student performance,” Int. J. Artif. Intell. Educ., vol. 29, pp. 405–428, 2019.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  <a:r>
              <a:rPr lang="en-US" sz="2896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[6] Y. Nieto, V. García-Díaz, C. Montenegro, and R. G. Crespo, “Supporting academic decision making at higher educational institutions using machine learning-based algorithms,” Soft Comput., vol. 23, pp. 4145–4159, 2019.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  <a:r>
              <a:rPr lang="en-US" sz="2896">
                <a:solidFill>
                  <a:srgbClr val="376092"/>
                </a:solidFill>
                <a:latin typeface="Calibri (MS)"/>
                <a:ea typeface="Calibri (MS)"/>
                <a:cs typeface="Calibri (MS)"/>
                <a:sym typeface="Calibri (MS)"/>
              </a:rPr>
              <a:t>[7] Z. Li, S. C. H. Hoi, W. Wang, L. Liu, and L. Wang, “Deep learning approaches for student performance prediction,” IEEE Trans. Learn. Technol., vol. 14, pp. 189–202, 2021.</a:t>
            </a:r>
          </a:p>
          <a:p>
            <a:pPr algn="just">
              <a:lnSpc>
                <a:spcPts val="3476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972300" y="9615632"/>
            <a:ext cx="4343400" cy="547688"/>
            <a:chOff x="0" y="0"/>
            <a:chExt cx="57912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348163" y="335958"/>
            <a:ext cx="18754316" cy="1046140"/>
            <a:chOff x="0" y="0"/>
            <a:chExt cx="25005755" cy="13948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005805" cy="1394841"/>
            </a:xfrm>
            <a:custGeom>
              <a:avLst/>
              <a:gdLst/>
              <a:ahLst/>
              <a:cxnLst/>
              <a:rect r="r" b="b" t="t" l="l"/>
              <a:pathLst>
                <a:path h="1394841" w="25005805">
                  <a:moveTo>
                    <a:pt x="0" y="0"/>
                  </a:moveTo>
                  <a:lnTo>
                    <a:pt x="25005805" y="0"/>
                  </a:lnTo>
                  <a:lnTo>
                    <a:pt x="25005805" y="1394841"/>
                  </a:lnTo>
                  <a:lnTo>
                    <a:pt x="0" y="1394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58" r="0" b="-3687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971800" y="231611"/>
            <a:ext cx="12344400" cy="1417050"/>
            <a:chOff x="0" y="0"/>
            <a:chExt cx="16459200" cy="1889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0" cy="1889396"/>
            </a:xfrm>
            <a:custGeom>
              <a:avLst/>
              <a:gdLst/>
              <a:ahLst/>
              <a:cxnLst/>
              <a:rect r="r" b="b" t="t" l="l"/>
              <a:pathLst>
                <a:path h="188939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89396"/>
                  </a:lnTo>
                  <a:lnTo>
                    <a:pt x="0" y="1889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42875"/>
              <a:ext cx="16459200" cy="203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848325" y="9678039"/>
            <a:ext cx="238620" cy="280171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55146" y="8748430"/>
            <a:ext cx="958184" cy="958184"/>
            <a:chOff x="0" y="0"/>
            <a:chExt cx="2537798" cy="2537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6150" y="8896350"/>
            <a:ext cx="14801850" cy="609600"/>
            <a:chOff x="0" y="0"/>
            <a:chExt cx="19735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25400"/>
              <a:ext cx="196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735800">
                  <a:moveTo>
                    <a:pt x="25400" y="0"/>
                  </a:moveTo>
                  <a:lnTo>
                    <a:pt x="19710400" y="0"/>
                  </a:lnTo>
                  <a:cubicBezTo>
                    <a:pt x="19724370" y="0"/>
                    <a:pt x="19735800" y="11430"/>
                    <a:pt x="19735800" y="25400"/>
                  </a:cubicBezTo>
                  <a:lnTo>
                    <a:pt x="19735800" y="787400"/>
                  </a:lnTo>
                  <a:cubicBezTo>
                    <a:pt x="19735800" y="801370"/>
                    <a:pt x="19724370" y="812800"/>
                    <a:pt x="19710400" y="812800"/>
                  </a:cubicBezTo>
                  <a:lnTo>
                    <a:pt x="25400" y="812800"/>
                  </a:lnTo>
                  <a:cubicBezTo>
                    <a:pt x="11430" y="812800"/>
                    <a:pt x="0" y="801370"/>
                    <a:pt x="0" y="78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87400"/>
                  </a:lnTo>
                  <a:lnTo>
                    <a:pt x="25400" y="787400"/>
                  </a:lnTo>
                  <a:lnTo>
                    <a:pt x="25400" y="762000"/>
                  </a:lnTo>
                  <a:lnTo>
                    <a:pt x="19710400" y="762000"/>
                  </a:lnTo>
                  <a:lnTo>
                    <a:pt x="19710400" y="787400"/>
                  </a:lnTo>
                  <a:lnTo>
                    <a:pt x="19685000" y="787400"/>
                  </a:lnTo>
                  <a:lnTo>
                    <a:pt x="19685000" y="25400"/>
                  </a:lnTo>
                  <a:lnTo>
                    <a:pt x="19710400" y="25400"/>
                  </a:lnTo>
                  <a:lnTo>
                    <a:pt x="19710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735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050" y="-19050"/>
            <a:ext cx="18326100" cy="381000"/>
            <a:chOff x="0" y="0"/>
            <a:chExt cx="244348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3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434800">
                  <a:moveTo>
                    <a:pt x="25400" y="0"/>
                  </a:moveTo>
                  <a:lnTo>
                    <a:pt x="24409400" y="0"/>
                  </a:lnTo>
                  <a:cubicBezTo>
                    <a:pt x="24423370" y="0"/>
                    <a:pt x="24434800" y="11430"/>
                    <a:pt x="24434800" y="25400"/>
                  </a:cubicBezTo>
                  <a:lnTo>
                    <a:pt x="24434800" y="482600"/>
                  </a:lnTo>
                  <a:cubicBezTo>
                    <a:pt x="24434800" y="496570"/>
                    <a:pt x="24423370" y="508000"/>
                    <a:pt x="24409400" y="508000"/>
                  </a:cubicBezTo>
                  <a:lnTo>
                    <a:pt x="25400" y="508000"/>
                  </a:lnTo>
                  <a:cubicBezTo>
                    <a:pt x="11430" y="508000"/>
                    <a:pt x="0" y="496570"/>
                    <a:pt x="0" y="48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82600"/>
                  </a:lnTo>
                  <a:lnTo>
                    <a:pt x="25400" y="482600"/>
                  </a:lnTo>
                  <a:lnTo>
                    <a:pt x="25400" y="457200"/>
                  </a:lnTo>
                  <a:lnTo>
                    <a:pt x="24409400" y="457200"/>
                  </a:lnTo>
                  <a:lnTo>
                    <a:pt x="24409400" y="482600"/>
                  </a:lnTo>
                  <a:lnTo>
                    <a:pt x="24384000" y="482600"/>
                  </a:lnTo>
                  <a:lnTo>
                    <a:pt x="24384000" y="25400"/>
                  </a:lnTo>
                  <a:lnTo>
                    <a:pt x="24409400" y="25400"/>
                  </a:lnTo>
                  <a:lnTo>
                    <a:pt x="24409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85D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11165" y="8619464"/>
            <a:ext cx="1235071" cy="1235071"/>
            <a:chOff x="0" y="0"/>
            <a:chExt cx="2537798" cy="25377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7841" cy="2537841"/>
            </a:xfrm>
            <a:custGeom>
              <a:avLst/>
              <a:gdLst/>
              <a:ahLst/>
              <a:cxnLst/>
              <a:rect r="r" b="b" t="t" l="l"/>
              <a:pathLst>
                <a:path h="2537841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2537841"/>
                  </a:lnTo>
                  <a:lnTo>
                    <a:pt x="0" y="2537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343400" cy="547688"/>
            <a:chOff x="0" y="0"/>
            <a:chExt cx="57912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91200" cy="730250"/>
            </a:xfrm>
            <a:custGeom>
              <a:avLst/>
              <a:gdLst/>
              <a:ahLst/>
              <a:cxnLst/>
              <a:rect r="r" b="b" t="t" l="l"/>
              <a:pathLst>
                <a:path h="73025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497" r="0" b="-2124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7912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CSE, NDUB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848325" y="9678039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28655" y="1822286"/>
            <a:ext cx="8830689" cy="278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6"/>
              </a:lnSpc>
              <a:spcBef>
                <a:spcPct val="0"/>
              </a:spcBef>
            </a:pPr>
            <a:r>
              <a:rPr lang="en-US" sz="15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86150" y="4363750"/>
            <a:ext cx="8379658" cy="104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  <a:spcBef>
                <a:spcPct val="0"/>
              </a:spcBef>
            </a:pPr>
            <a:r>
              <a:rPr lang="en-US" sz="6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Any queries?!!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DAG1sWMUJak</dc:identifier>
  <dcterms:modified xsi:type="dcterms:W3CDTF">2011-08-01T06:04:30Z</dcterms:modified>
  <cp:revision>1</cp:revision>
  <dc:title>Thesis</dc:title>
</cp:coreProperties>
</file>